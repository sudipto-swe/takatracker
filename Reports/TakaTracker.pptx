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Calibri (MS)" charset="1" panose="020F05020202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99392" y="7137892"/>
            <a:ext cx="3431677" cy="3431677"/>
            <a:chOff x="0" y="0"/>
            <a:chExt cx="4575569" cy="45755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75556" cy="4575556"/>
            </a:xfrm>
            <a:custGeom>
              <a:avLst/>
              <a:gdLst/>
              <a:ahLst/>
              <a:cxnLst/>
              <a:rect r="r" b="b" t="t" l="l"/>
              <a:pathLst>
                <a:path h="4575556" w="4575556">
                  <a:moveTo>
                    <a:pt x="0" y="2287778"/>
                  </a:moveTo>
                  <a:cubicBezTo>
                    <a:pt x="0" y="1024255"/>
                    <a:pt x="1024255" y="0"/>
                    <a:pt x="2287778" y="0"/>
                  </a:cubicBezTo>
                  <a:cubicBezTo>
                    <a:pt x="3551301" y="0"/>
                    <a:pt x="4575556" y="1024255"/>
                    <a:pt x="4575556" y="2287778"/>
                  </a:cubicBezTo>
                  <a:cubicBezTo>
                    <a:pt x="4575556" y="3551301"/>
                    <a:pt x="3551301" y="4575556"/>
                    <a:pt x="2287778" y="4575556"/>
                  </a:cubicBezTo>
                  <a:cubicBezTo>
                    <a:pt x="1024255" y="4575556"/>
                    <a:pt x="0" y="3551301"/>
                    <a:pt x="0" y="2287778"/>
                  </a:cubicBezTo>
                  <a:close/>
                </a:path>
              </a:pathLst>
            </a:custGeom>
            <a:solidFill>
              <a:srgbClr val="003D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86333" y="6863363"/>
            <a:ext cx="2745343" cy="2745343"/>
            <a:chOff x="0" y="0"/>
            <a:chExt cx="3660458" cy="36604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60521" cy="3660521"/>
            </a:xfrm>
            <a:custGeom>
              <a:avLst/>
              <a:gdLst/>
              <a:ahLst/>
              <a:cxnLst/>
              <a:rect r="r" b="b" t="t" l="l"/>
              <a:pathLst>
                <a:path h="3660521" w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003D5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49696" y="5765225"/>
            <a:ext cx="3157147" cy="57198"/>
            <a:chOff x="0" y="0"/>
            <a:chExt cx="420952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9542" cy="76200"/>
            </a:xfrm>
            <a:custGeom>
              <a:avLst/>
              <a:gdLst/>
              <a:ahLst/>
              <a:cxnLst/>
              <a:rect r="r" b="b" t="t" l="l"/>
              <a:pathLst>
                <a:path h="76200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16157" y="7137892"/>
            <a:ext cx="7824235" cy="754971"/>
            <a:chOff x="0" y="0"/>
            <a:chExt cx="10432313" cy="1006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32288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432288">
                  <a:moveTo>
                    <a:pt x="0" y="80518"/>
                  </a:moveTo>
                  <a:cubicBezTo>
                    <a:pt x="0" y="36068"/>
                    <a:pt x="36068" y="0"/>
                    <a:pt x="80518" y="0"/>
                  </a:cubicBezTo>
                  <a:lnTo>
                    <a:pt x="10351770" y="0"/>
                  </a:lnTo>
                  <a:cubicBezTo>
                    <a:pt x="10396220" y="0"/>
                    <a:pt x="10432288" y="36068"/>
                    <a:pt x="10432288" y="80518"/>
                  </a:cubicBezTo>
                  <a:lnTo>
                    <a:pt x="10432288" y="926084"/>
                  </a:lnTo>
                  <a:cubicBezTo>
                    <a:pt x="10432288" y="970534"/>
                    <a:pt x="10396220" y="1006602"/>
                    <a:pt x="10351770" y="1006602"/>
                  </a:cubicBezTo>
                  <a:lnTo>
                    <a:pt x="80518" y="1006602"/>
                  </a:lnTo>
                  <a:cubicBezTo>
                    <a:pt x="36068" y="1006602"/>
                    <a:pt x="0" y="970534"/>
                    <a:pt x="0" y="926084"/>
                  </a:cubicBezTo>
                  <a:close/>
                </a:path>
              </a:pathLst>
            </a:custGeom>
            <a:solidFill>
              <a:srgbClr val="0D3B50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099392" y="56459"/>
            <a:ext cx="2814833" cy="2189993"/>
          </a:xfrm>
          <a:custGeom>
            <a:avLst/>
            <a:gdLst/>
            <a:ahLst/>
            <a:cxnLst/>
            <a:rect r="r" b="b" t="t" l="l"/>
            <a:pathLst>
              <a:path h="2189993" w="2814833">
                <a:moveTo>
                  <a:pt x="0" y="0"/>
                </a:moveTo>
                <a:lnTo>
                  <a:pt x="2814833" y="0"/>
                </a:lnTo>
                <a:lnTo>
                  <a:pt x="2814833" y="2189993"/>
                </a:lnTo>
                <a:lnTo>
                  <a:pt x="0" y="21899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531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618134" y="2903677"/>
            <a:ext cx="502027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7"/>
              </a:lnSpc>
            </a:pPr>
            <a:r>
              <a:rPr lang="en-US" sz="7806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TakaTracker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36783" y="4097064"/>
            <a:ext cx="12582973" cy="661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>
                <a:solidFill>
                  <a:srgbClr val="00B4D8"/>
                </a:solidFill>
                <a:latin typeface="Calibri (MS)"/>
                <a:ea typeface="Calibri (MS)"/>
                <a:cs typeface="Calibri (MS)"/>
                <a:sym typeface="Calibri (MS)"/>
              </a:rPr>
              <a:t>টাকাট্র্যাকার — হিসাব রাখুন, ব্যবসা বাড়ান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36783" y="4861560"/>
            <a:ext cx="125829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A Mobile Financial Management Application for Bangladeshi Micro &amp; Small Businesses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36783" y="6037850"/>
            <a:ext cx="12582973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Course: SE331 — Software Engineering Design Capstone Project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36783" y="6518291"/>
            <a:ext cx="12582973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Daffodil International University  |  Spring 2026  |  Section: E1  |  Batch: 40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07597" y="7343927"/>
            <a:ext cx="764135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Instructor:  </a:t>
            </a:r>
            <a:r>
              <a:rPr lang="en-US" sz="1801" b="true">
                <a:solidFill>
                  <a:srgbClr val="90A4A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Rahat Uddin Azad</a:t>
            </a:r>
            <a:r>
              <a:rPr lang="en-US" sz="18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  (Lecturer, Dept. of Software Engineering)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36783" y="8165497"/>
            <a:ext cx="1258297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00B4D8"/>
                </a:solidFill>
                <a:latin typeface="Calibri (MS)"/>
                <a:ea typeface="Calibri (MS)"/>
                <a:cs typeface="Calibri (MS)"/>
                <a:sym typeface="Calibri (MS)"/>
              </a:rPr>
              <a:t>Team:  Sudipto Biswas  •  Shah Shazid Askary  •  Masud Hassan Sakib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36783" y="8664978"/>
            <a:ext cx="12582973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IDs: 0242310005341163  •  0242310005341201  •  0242310005341046</a:t>
            </a:r>
          </a:p>
        </p:txBody>
      </p:sp>
      <p:sp>
        <p:nvSpPr>
          <p:cNvPr name="Freeform 19" id="19" descr="logo.png"/>
          <p:cNvSpPr/>
          <p:nvPr/>
        </p:nvSpPr>
        <p:spPr>
          <a:xfrm flipH="false" flipV="false" rot="0">
            <a:off x="7802538" y="534448"/>
            <a:ext cx="2651462" cy="2369229"/>
          </a:xfrm>
          <a:custGeom>
            <a:avLst/>
            <a:gdLst/>
            <a:ahLst/>
            <a:cxnLst/>
            <a:rect r="r" b="b" t="t" l="l"/>
            <a:pathLst>
              <a:path h="2369229" w="2651462">
                <a:moveTo>
                  <a:pt x="0" y="0"/>
                </a:moveTo>
                <a:lnTo>
                  <a:pt x="2651463" y="0"/>
                </a:lnTo>
                <a:lnTo>
                  <a:pt x="2651463" y="2369229"/>
                </a:lnTo>
                <a:lnTo>
                  <a:pt x="0" y="2369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343167"/>
            <a:ext cx="823608" cy="823608"/>
            <a:chOff x="0" y="0"/>
            <a:chExt cx="1098144" cy="1098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33450" y="0"/>
                  </a:lnTo>
                  <a:cubicBezTo>
                    <a:pt x="1024382" y="0"/>
                    <a:pt x="1098169" y="73787"/>
                    <a:pt x="1098169" y="164719"/>
                  </a:cubicBezTo>
                  <a:lnTo>
                    <a:pt x="1098169" y="933450"/>
                  </a:lnTo>
                  <a:cubicBezTo>
                    <a:pt x="1098169" y="1024382"/>
                    <a:pt x="1024382" y="1098169"/>
                    <a:pt x="933450" y="1098169"/>
                  </a:cubicBezTo>
                  <a:lnTo>
                    <a:pt x="164719" y="1098169"/>
                  </a:lnTo>
                  <a:cubicBezTo>
                    <a:pt x="73787" y="1098169"/>
                    <a:pt x="0" y="1024382"/>
                    <a:pt x="0" y="93345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363398"/>
            <a:ext cx="640728" cy="73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646" y="293637"/>
            <a:ext cx="13543845" cy="75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Presentation 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47206" y="1194225"/>
            <a:ext cx="3431677" cy="57198"/>
            <a:chOff x="0" y="0"/>
            <a:chExt cx="457556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5556" cy="76200"/>
            </a:xfrm>
            <a:custGeom>
              <a:avLst/>
              <a:gdLst/>
              <a:ahLst/>
              <a:cxnLst/>
              <a:rect r="r" b="b" t="t" l="l"/>
              <a:pathLst>
                <a:path h="76200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38646" y="1302134"/>
            <a:ext cx="13543845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Overview of today's presentation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98137" y="2059010"/>
            <a:ext cx="658882" cy="658882"/>
            <a:chOff x="0" y="0"/>
            <a:chExt cx="878510" cy="8785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89577" y="2139467"/>
            <a:ext cx="476002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13185" y="2129942"/>
            <a:ext cx="5307806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 &amp; Solution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03871" y="2176443"/>
            <a:ext cx="1464326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[Sudipto]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98137" y="3266961"/>
            <a:ext cx="658882" cy="658882"/>
            <a:chOff x="0" y="0"/>
            <a:chExt cx="878510" cy="8785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89577" y="3347418"/>
            <a:ext cx="476002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13185" y="3337893"/>
            <a:ext cx="5307806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Stakeholders &amp; Requirements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03871" y="3384394"/>
            <a:ext cx="1464326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[Sudipto]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98137" y="4474912"/>
            <a:ext cx="658882" cy="658882"/>
            <a:chOff x="0" y="0"/>
            <a:chExt cx="878510" cy="8785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89577" y="4555369"/>
            <a:ext cx="476002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13185" y="6954884"/>
            <a:ext cx="5307806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Use Case Diagram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03871" y="4592345"/>
            <a:ext cx="146432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[Sudipto]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98137" y="5682863"/>
            <a:ext cx="658882" cy="658882"/>
            <a:chOff x="0" y="0"/>
            <a:chExt cx="878510" cy="8785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89577" y="5763320"/>
            <a:ext cx="476002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15090" y="4538982"/>
            <a:ext cx="5307806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System Architecture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03871" y="5800296"/>
            <a:ext cx="146432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[Sudipto]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98137" y="6890814"/>
            <a:ext cx="658882" cy="658882"/>
            <a:chOff x="0" y="0"/>
            <a:chExt cx="878510" cy="87851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8E44AD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189577" y="6971271"/>
            <a:ext cx="476002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015090" y="8162835"/>
            <a:ext cx="5307806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Entity Relationship Diagram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503871" y="7008247"/>
            <a:ext cx="1464326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[Shazid]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98137" y="8098765"/>
            <a:ext cx="658882" cy="658882"/>
            <a:chOff x="0" y="0"/>
            <a:chExt cx="878510" cy="87851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89577" y="8179222"/>
            <a:ext cx="476002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015090" y="5737598"/>
            <a:ext cx="530780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Technology Stack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503871" y="8216198"/>
            <a:ext cx="1464326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[Shazid]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608706" y="2059010"/>
            <a:ext cx="658882" cy="658882"/>
            <a:chOff x="0" y="0"/>
            <a:chExt cx="878510" cy="87851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700146" y="2139467"/>
            <a:ext cx="476002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07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523753" y="2129942"/>
            <a:ext cx="5307806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Quality Assurance &amp; Testing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014440" y="2176443"/>
            <a:ext cx="1464326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[Shazid]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608706" y="3266961"/>
            <a:ext cx="658882" cy="658882"/>
            <a:chOff x="0" y="0"/>
            <a:chExt cx="878510" cy="87851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E74C3C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9700146" y="3347418"/>
            <a:ext cx="476002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523753" y="3337893"/>
            <a:ext cx="5307806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Technical Challenges &amp; Solutions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014440" y="3384394"/>
            <a:ext cx="1464326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[Masud]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608706" y="4474912"/>
            <a:ext cx="658882" cy="658882"/>
            <a:chOff x="0" y="0"/>
            <a:chExt cx="878510" cy="87851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9700146" y="4555369"/>
            <a:ext cx="476002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09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523753" y="4545844"/>
            <a:ext cx="5307806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 Responsibility Matrix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014440" y="4592345"/>
            <a:ext cx="1464326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[Masud]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608706" y="5682863"/>
            <a:ext cx="658882" cy="658882"/>
            <a:chOff x="0" y="0"/>
            <a:chExt cx="878510" cy="87851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9700146" y="5763320"/>
            <a:ext cx="476002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014440" y="5800296"/>
            <a:ext cx="1464326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[Masud]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9608706" y="6890814"/>
            <a:ext cx="658882" cy="658882"/>
            <a:chOff x="0" y="0"/>
            <a:chExt cx="878510" cy="87851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8E44AD"/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9700146" y="6971271"/>
            <a:ext cx="476002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524763" y="5712619"/>
            <a:ext cx="5307806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Future Enhancements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014440" y="7008247"/>
            <a:ext cx="1464326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[Masud]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523753" y="6954884"/>
            <a:ext cx="5307806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Thank You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343167"/>
            <a:ext cx="823608" cy="823608"/>
            <a:chOff x="0" y="0"/>
            <a:chExt cx="1098144" cy="1098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33450" y="0"/>
                  </a:lnTo>
                  <a:cubicBezTo>
                    <a:pt x="1024382" y="0"/>
                    <a:pt x="1098169" y="73787"/>
                    <a:pt x="1098169" y="164719"/>
                  </a:cubicBezTo>
                  <a:lnTo>
                    <a:pt x="1098169" y="933450"/>
                  </a:lnTo>
                  <a:cubicBezTo>
                    <a:pt x="1098169" y="1024382"/>
                    <a:pt x="1024382" y="1098169"/>
                    <a:pt x="933450" y="1098169"/>
                  </a:cubicBezTo>
                  <a:lnTo>
                    <a:pt x="164719" y="1098169"/>
                  </a:lnTo>
                  <a:cubicBezTo>
                    <a:pt x="73787" y="1098169"/>
                    <a:pt x="0" y="1024382"/>
                    <a:pt x="0" y="93345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363398"/>
            <a:ext cx="640728" cy="73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646" y="293637"/>
            <a:ext cx="13543845" cy="75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47206" y="1194225"/>
            <a:ext cx="3431677" cy="57198"/>
            <a:chOff x="0" y="0"/>
            <a:chExt cx="457556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5556" cy="76200"/>
            </a:xfrm>
            <a:custGeom>
              <a:avLst/>
              <a:gdLst/>
              <a:ahLst/>
              <a:cxnLst/>
              <a:rect r="r" b="b" t="t" l="l"/>
              <a:pathLst>
                <a:path h="76200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38646" y="1302134"/>
            <a:ext cx="13543845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Why do Bangladeshi small merchants need TakaTracker?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9069" y="1853108"/>
            <a:ext cx="7961500" cy="1235402"/>
            <a:chOff x="0" y="0"/>
            <a:chExt cx="10615333" cy="16472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15422" cy="1647317"/>
            </a:xfrm>
            <a:custGeom>
              <a:avLst/>
              <a:gdLst/>
              <a:ahLst/>
              <a:cxnLst/>
              <a:rect r="r" b="b" t="t" l="l"/>
              <a:pathLst>
                <a:path h="1647317" w="10615422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lnTo>
                    <a:pt x="10532999" y="0"/>
                  </a:lnTo>
                  <a:cubicBezTo>
                    <a:pt x="10578465" y="0"/>
                    <a:pt x="10615422" y="36830"/>
                    <a:pt x="10615422" y="82423"/>
                  </a:cubicBezTo>
                  <a:lnTo>
                    <a:pt x="10615422" y="1564894"/>
                  </a:lnTo>
                  <a:cubicBezTo>
                    <a:pt x="10615422" y="1610360"/>
                    <a:pt x="10578592" y="1647317"/>
                    <a:pt x="10532999" y="1647317"/>
                  </a:cubicBezTo>
                  <a:lnTo>
                    <a:pt x="82423" y="1647317"/>
                  </a:lnTo>
                  <a:cubicBezTo>
                    <a:pt x="36830" y="1647190"/>
                    <a:pt x="0" y="1610360"/>
                    <a:pt x="0" y="1564894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9069" y="1853108"/>
            <a:ext cx="76257" cy="1235402"/>
            <a:chOff x="0" y="0"/>
            <a:chExt cx="101676" cy="16472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727" cy="1647190"/>
            </a:xfrm>
            <a:custGeom>
              <a:avLst/>
              <a:gdLst/>
              <a:ahLst/>
              <a:cxnLst/>
              <a:rect r="r" b="b" t="t" l="l"/>
              <a:pathLst>
                <a:path h="1647190" w="101727">
                  <a:moveTo>
                    <a:pt x="0" y="0"/>
                  </a:moveTo>
                  <a:lnTo>
                    <a:pt x="101727" y="0"/>
                  </a:lnTo>
                  <a:lnTo>
                    <a:pt x="101727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83675" y="1961017"/>
            <a:ext cx="7229551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74C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📝  Manual Bookkeeping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3675" y="2437247"/>
            <a:ext cx="7229551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7.8M+ small businesses still use pen &amp; paper (খাতা)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49069" y="3294412"/>
            <a:ext cx="7961500" cy="1235402"/>
            <a:chOff x="0" y="0"/>
            <a:chExt cx="10615333" cy="16472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15422" cy="1647317"/>
            </a:xfrm>
            <a:custGeom>
              <a:avLst/>
              <a:gdLst/>
              <a:ahLst/>
              <a:cxnLst/>
              <a:rect r="r" b="b" t="t" l="l"/>
              <a:pathLst>
                <a:path h="1647317" w="10615422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lnTo>
                    <a:pt x="10532999" y="0"/>
                  </a:lnTo>
                  <a:cubicBezTo>
                    <a:pt x="10578465" y="0"/>
                    <a:pt x="10615422" y="36830"/>
                    <a:pt x="10615422" y="82423"/>
                  </a:cubicBezTo>
                  <a:lnTo>
                    <a:pt x="10615422" y="1564894"/>
                  </a:lnTo>
                  <a:cubicBezTo>
                    <a:pt x="10615422" y="1610360"/>
                    <a:pt x="10578592" y="1647317"/>
                    <a:pt x="10532999" y="1647317"/>
                  </a:cubicBezTo>
                  <a:lnTo>
                    <a:pt x="82423" y="1647317"/>
                  </a:lnTo>
                  <a:cubicBezTo>
                    <a:pt x="36830" y="1647190"/>
                    <a:pt x="0" y="1610360"/>
                    <a:pt x="0" y="1564894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9069" y="3294412"/>
            <a:ext cx="76257" cy="1235402"/>
            <a:chOff x="0" y="0"/>
            <a:chExt cx="101676" cy="16472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727" cy="1647190"/>
            </a:xfrm>
            <a:custGeom>
              <a:avLst/>
              <a:gdLst/>
              <a:ahLst/>
              <a:cxnLst/>
              <a:rect r="r" b="b" t="t" l="l"/>
              <a:pathLst>
                <a:path h="1647190" w="101727">
                  <a:moveTo>
                    <a:pt x="0" y="0"/>
                  </a:moveTo>
                  <a:lnTo>
                    <a:pt x="101727" y="0"/>
                  </a:lnTo>
                  <a:lnTo>
                    <a:pt x="101727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83675" y="3402320"/>
            <a:ext cx="7229551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💸  Lost Revenue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675" y="3878551"/>
            <a:ext cx="7229551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Inaccurate records, forgotten dues, calculation errors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49069" y="4735716"/>
            <a:ext cx="7961500" cy="1235402"/>
            <a:chOff x="0" y="0"/>
            <a:chExt cx="10615333" cy="16472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15422" cy="1647317"/>
            </a:xfrm>
            <a:custGeom>
              <a:avLst/>
              <a:gdLst/>
              <a:ahLst/>
              <a:cxnLst/>
              <a:rect r="r" b="b" t="t" l="l"/>
              <a:pathLst>
                <a:path h="1647317" w="10615422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lnTo>
                    <a:pt x="10532999" y="0"/>
                  </a:lnTo>
                  <a:cubicBezTo>
                    <a:pt x="10578465" y="0"/>
                    <a:pt x="10615422" y="36830"/>
                    <a:pt x="10615422" y="82423"/>
                  </a:cubicBezTo>
                  <a:lnTo>
                    <a:pt x="10615422" y="1564894"/>
                  </a:lnTo>
                  <a:cubicBezTo>
                    <a:pt x="10615422" y="1610360"/>
                    <a:pt x="10578592" y="1647317"/>
                    <a:pt x="10532999" y="1647317"/>
                  </a:cubicBezTo>
                  <a:lnTo>
                    <a:pt x="82423" y="1647317"/>
                  </a:lnTo>
                  <a:cubicBezTo>
                    <a:pt x="36830" y="1647190"/>
                    <a:pt x="0" y="1610360"/>
                    <a:pt x="0" y="1564894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49069" y="4735716"/>
            <a:ext cx="76257" cy="1235402"/>
            <a:chOff x="0" y="0"/>
            <a:chExt cx="101676" cy="16472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727" cy="1647190"/>
            </a:xfrm>
            <a:custGeom>
              <a:avLst/>
              <a:gdLst/>
              <a:ahLst/>
              <a:cxnLst/>
              <a:rect r="r" b="b" t="t" l="l"/>
              <a:pathLst>
                <a:path h="1647190" w="101727">
                  <a:moveTo>
                    <a:pt x="0" y="0"/>
                  </a:moveTo>
                  <a:lnTo>
                    <a:pt x="101727" y="0"/>
                  </a:lnTo>
                  <a:lnTo>
                    <a:pt x="101727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8E44AD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83675" y="4843624"/>
            <a:ext cx="7229551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8E44A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🌐  Language Barrier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3675" y="5319865"/>
            <a:ext cx="7229551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Most solutions in English — merchants prefer বাংলা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49069" y="6177029"/>
            <a:ext cx="7961500" cy="1235402"/>
            <a:chOff x="0" y="0"/>
            <a:chExt cx="10615333" cy="16472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15422" cy="1647317"/>
            </a:xfrm>
            <a:custGeom>
              <a:avLst/>
              <a:gdLst/>
              <a:ahLst/>
              <a:cxnLst/>
              <a:rect r="r" b="b" t="t" l="l"/>
              <a:pathLst>
                <a:path h="1647317" w="10615422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lnTo>
                    <a:pt x="10532999" y="0"/>
                  </a:lnTo>
                  <a:cubicBezTo>
                    <a:pt x="10578465" y="0"/>
                    <a:pt x="10615422" y="36830"/>
                    <a:pt x="10615422" y="82423"/>
                  </a:cubicBezTo>
                  <a:lnTo>
                    <a:pt x="10615422" y="1564894"/>
                  </a:lnTo>
                  <a:cubicBezTo>
                    <a:pt x="10615422" y="1610360"/>
                    <a:pt x="10578592" y="1647317"/>
                    <a:pt x="10532999" y="1647317"/>
                  </a:cubicBezTo>
                  <a:lnTo>
                    <a:pt x="82423" y="1647317"/>
                  </a:lnTo>
                  <a:cubicBezTo>
                    <a:pt x="36830" y="1647190"/>
                    <a:pt x="0" y="1610360"/>
                    <a:pt x="0" y="1564894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49069" y="6177029"/>
            <a:ext cx="76257" cy="1235402"/>
            <a:chOff x="0" y="0"/>
            <a:chExt cx="101676" cy="164720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727" cy="1647190"/>
            </a:xfrm>
            <a:custGeom>
              <a:avLst/>
              <a:gdLst/>
              <a:ahLst/>
              <a:cxnLst/>
              <a:rect r="r" b="b" t="t" l="l"/>
              <a:pathLst>
                <a:path h="1647190" w="101727">
                  <a:moveTo>
                    <a:pt x="0" y="0"/>
                  </a:moveTo>
                  <a:lnTo>
                    <a:pt x="101727" y="0"/>
                  </a:lnTo>
                  <a:lnTo>
                    <a:pt x="101727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3498DB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83675" y="6284938"/>
            <a:ext cx="7229551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3498D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📡  Connectivity Issues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3675" y="6761169"/>
            <a:ext cx="7229551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Rural areas lack stable internet — cloud-only apps fail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549069" y="7618333"/>
            <a:ext cx="7961500" cy="1235402"/>
            <a:chOff x="0" y="0"/>
            <a:chExt cx="10615333" cy="16472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615422" cy="1647317"/>
            </a:xfrm>
            <a:custGeom>
              <a:avLst/>
              <a:gdLst/>
              <a:ahLst/>
              <a:cxnLst/>
              <a:rect r="r" b="b" t="t" l="l"/>
              <a:pathLst>
                <a:path h="1647317" w="10615422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lnTo>
                    <a:pt x="10532999" y="0"/>
                  </a:lnTo>
                  <a:cubicBezTo>
                    <a:pt x="10578465" y="0"/>
                    <a:pt x="10615422" y="36830"/>
                    <a:pt x="10615422" y="82423"/>
                  </a:cubicBezTo>
                  <a:lnTo>
                    <a:pt x="10615422" y="1564894"/>
                  </a:lnTo>
                  <a:cubicBezTo>
                    <a:pt x="10615422" y="1610360"/>
                    <a:pt x="10578592" y="1647317"/>
                    <a:pt x="10532999" y="1647317"/>
                  </a:cubicBezTo>
                  <a:lnTo>
                    <a:pt x="82423" y="1647317"/>
                  </a:lnTo>
                  <a:cubicBezTo>
                    <a:pt x="36830" y="1647190"/>
                    <a:pt x="0" y="1610360"/>
                    <a:pt x="0" y="1564894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49069" y="7618333"/>
            <a:ext cx="76257" cy="1235402"/>
            <a:chOff x="0" y="0"/>
            <a:chExt cx="101676" cy="164720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1727" cy="1647190"/>
            </a:xfrm>
            <a:custGeom>
              <a:avLst/>
              <a:gdLst/>
              <a:ahLst/>
              <a:cxnLst/>
              <a:rect r="r" b="b" t="t" l="l"/>
              <a:pathLst>
                <a:path h="1647190" w="101727">
                  <a:moveTo>
                    <a:pt x="0" y="0"/>
                  </a:moveTo>
                  <a:lnTo>
                    <a:pt x="101727" y="0"/>
                  </a:lnTo>
                  <a:lnTo>
                    <a:pt x="101727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83675" y="7726242"/>
            <a:ext cx="7229551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74C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🔒  Data Loss Risk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3675" y="8202473"/>
            <a:ext cx="7229551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Paper records damaged, lost, or destroyed in floods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059637" y="1853108"/>
            <a:ext cx="8647833" cy="7206529"/>
            <a:chOff x="0" y="0"/>
            <a:chExt cx="11530444" cy="960870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530457" cy="9608820"/>
            </a:xfrm>
            <a:custGeom>
              <a:avLst/>
              <a:gdLst/>
              <a:ahLst/>
              <a:cxnLst/>
              <a:rect r="r" b="b" t="t" l="l"/>
              <a:pathLst>
                <a:path h="9608820" w="11530457">
                  <a:moveTo>
                    <a:pt x="0" y="288290"/>
                  </a:moveTo>
                  <a:cubicBezTo>
                    <a:pt x="0" y="129032"/>
                    <a:pt x="129032" y="0"/>
                    <a:pt x="288290" y="0"/>
                  </a:cubicBezTo>
                  <a:lnTo>
                    <a:pt x="11242167" y="0"/>
                  </a:lnTo>
                  <a:cubicBezTo>
                    <a:pt x="11401425" y="0"/>
                    <a:pt x="11530457" y="129032"/>
                    <a:pt x="11530457" y="288290"/>
                  </a:cubicBezTo>
                  <a:lnTo>
                    <a:pt x="11530457" y="9320530"/>
                  </a:lnTo>
                  <a:cubicBezTo>
                    <a:pt x="11530457" y="9479788"/>
                    <a:pt x="11401425" y="9608820"/>
                    <a:pt x="11242167" y="9608820"/>
                  </a:cubicBezTo>
                  <a:lnTo>
                    <a:pt x="288290" y="9608820"/>
                  </a:lnTo>
                  <a:cubicBezTo>
                    <a:pt x="129032" y="9608820"/>
                    <a:pt x="0" y="9479788"/>
                    <a:pt x="0" y="9320530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425616" y="2047580"/>
            <a:ext cx="7915885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📊  The Reality in Numbers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700146" y="2852128"/>
            <a:ext cx="2287934" cy="60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7.8M+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308224" y="2949340"/>
            <a:ext cx="5033277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Small businesses in Bangladesh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700146" y="4018902"/>
            <a:ext cx="2287934" cy="60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80%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308224" y="4116114"/>
            <a:ext cx="5033277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Still use manual bookkeeping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700146" y="5185677"/>
            <a:ext cx="2287934" cy="60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~40%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308224" y="5282879"/>
            <a:ext cx="5033277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Revenue leakage from forgotten dues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700146" y="6352451"/>
            <a:ext cx="2287934" cy="60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65%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08224" y="6449654"/>
            <a:ext cx="5033277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Merchants prefer Bengali interfaces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700146" y="7519216"/>
            <a:ext cx="2287934" cy="60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30%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308224" y="7616428"/>
            <a:ext cx="5033277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Areas with unreliable internet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03244" y="9684963"/>
            <a:ext cx="393513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by: Sudipto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425616" y="9456363"/>
            <a:ext cx="433137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eferences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Bangladesh Bureau of Statistics - MSME Survey 2019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343167"/>
            <a:ext cx="823608" cy="823608"/>
            <a:chOff x="0" y="0"/>
            <a:chExt cx="1098144" cy="1098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33450" y="0"/>
                  </a:lnTo>
                  <a:cubicBezTo>
                    <a:pt x="1024382" y="0"/>
                    <a:pt x="1098169" y="73787"/>
                    <a:pt x="1098169" y="164719"/>
                  </a:cubicBezTo>
                  <a:lnTo>
                    <a:pt x="1098169" y="933450"/>
                  </a:lnTo>
                  <a:cubicBezTo>
                    <a:pt x="1098169" y="1024382"/>
                    <a:pt x="1024382" y="1098169"/>
                    <a:pt x="933450" y="1098169"/>
                  </a:cubicBezTo>
                  <a:lnTo>
                    <a:pt x="164719" y="1098169"/>
                  </a:lnTo>
                  <a:cubicBezTo>
                    <a:pt x="73787" y="1098169"/>
                    <a:pt x="0" y="1024382"/>
                    <a:pt x="0" y="93345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363398"/>
            <a:ext cx="640728" cy="73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646" y="293637"/>
            <a:ext cx="13543845" cy="75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Solution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47206" y="1194225"/>
            <a:ext cx="3431677" cy="57198"/>
            <a:chOff x="0" y="0"/>
            <a:chExt cx="457556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5556" cy="76200"/>
            </a:xfrm>
            <a:custGeom>
              <a:avLst/>
              <a:gdLst/>
              <a:ahLst/>
              <a:cxnLst/>
              <a:rect r="r" b="b" t="t" l="l"/>
              <a:pathLst>
                <a:path h="76200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38646" y="1302134"/>
            <a:ext cx="13543845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TakaTracker — হিসাব রাখুন, ব্যবসা বাড়ান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9069" y="1853108"/>
            <a:ext cx="4049382" cy="3568951"/>
            <a:chOff x="0" y="0"/>
            <a:chExt cx="5399176" cy="47586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9151" cy="4758563"/>
            </a:xfrm>
            <a:custGeom>
              <a:avLst/>
              <a:gdLst/>
              <a:ahLst/>
              <a:cxnLst/>
              <a:rect r="r" b="b" t="t" l="l"/>
              <a:pathLst>
                <a:path h="4758563" w="5399151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lnTo>
                    <a:pt x="5161280" y="0"/>
                  </a:lnTo>
                  <a:cubicBezTo>
                    <a:pt x="5292725" y="0"/>
                    <a:pt x="5399151" y="106553"/>
                    <a:pt x="5399151" y="237871"/>
                  </a:cubicBezTo>
                  <a:lnTo>
                    <a:pt x="5399151" y="4520692"/>
                  </a:lnTo>
                  <a:cubicBezTo>
                    <a:pt x="5399151" y="4652137"/>
                    <a:pt x="5292598" y="4758563"/>
                    <a:pt x="5161280" y="4758563"/>
                  </a:cubicBezTo>
                  <a:lnTo>
                    <a:pt x="237871" y="4758563"/>
                  </a:lnTo>
                  <a:cubicBezTo>
                    <a:pt x="106553" y="4758563"/>
                    <a:pt x="0" y="4652010"/>
                    <a:pt x="0" y="4520692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921745" y="2127647"/>
            <a:ext cx="1029500" cy="1029500"/>
            <a:chOff x="0" y="0"/>
            <a:chExt cx="1372667" cy="13726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2616" cy="1372616"/>
            </a:xfrm>
            <a:custGeom>
              <a:avLst/>
              <a:gdLst/>
              <a:ahLst/>
              <a:cxnLst/>
              <a:rect r="r" b="b" t="t" l="l"/>
              <a:pathLst>
                <a:path h="1372616" w="1372616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cubicBezTo>
                    <a:pt x="1065276" y="0"/>
                    <a:pt x="1372616" y="307340"/>
                    <a:pt x="1372616" y="686308"/>
                  </a:cubicBezTo>
                  <a:cubicBezTo>
                    <a:pt x="1372616" y="1065276"/>
                    <a:pt x="1065276" y="1372616"/>
                    <a:pt x="686308" y="1372616"/>
                  </a:cubicBezTo>
                  <a:cubicBezTo>
                    <a:pt x="307340" y="1372616"/>
                    <a:pt x="0" y="1065403"/>
                    <a:pt x="0" y="686308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013185" y="2216506"/>
            <a:ext cx="846620" cy="73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📱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9146" y="3351619"/>
            <a:ext cx="3729238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Offline-First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9146" y="3919738"/>
            <a:ext cx="3729238" cy="1044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100% functionality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without internet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872990" y="1853108"/>
            <a:ext cx="4049382" cy="3568951"/>
            <a:chOff x="0" y="0"/>
            <a:chExt cx="5399176" cy="47586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99151" cy="4758563"/>
            </a:xfrm>
            <a:custGeom>
              <a:avLst/>
              <a:gdLst/>
              <a:ahLst/>
              <a:cxnLst/>
              <a:rect r="r" b="b" t="t" l="l"/>
              <a:pathLst>
                <a:path h="4758563" w="5399151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lnTo>
                    <a:pt x="5161280" y="0"/>
                  </a:lnTo>
                  <a:cubicBezTo>
                    <a:pt x="5292725" y="0"/>
                    <a:pt x="5399151" y="106553"/>
                    <a:pt x="5399151" y="237871"/>
                  </a:cubicBezTo>
                  <a:lnTo>
                    <a:pt x="5399151" y="4520692"/>
                  </a:lnTo>
                  <a:cubicBezTo>
                    <a:pt x="5399151" y="4652137"/>
                    <a:pt x="5292598" y="4758563"/>
                    <a:pt x="5161280" y="4758563"/>
                  </a:cubicBezTo>
                  <a:lnTo>
                    <a:pt x="237871" y="4758563"/>
                  </a:lnTo>
                  <a:cubicBezTo>
                    <a:pt x="106553" y="4758563"/>
                    <a:pt x="0" y="4652010"/>
                    <a:pt x="0" y="4520692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245657" y="2127647"/>
            <a:ext cx="1029500" cy="1029500"/>
            <a:chOff x="0" y="0"/>
            <a:chExt cx="1372667" cy="13726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2616" cy="1372616"/>
            </a:xfrm>
            <a:custGeom>
              <a:avLst/>
              <a:gdLst/>
              <a:ahLst/>
              <a:cxnLst/>
              <a:rect r="r" b="b" t="t" l="l"/>
              <a:pathLst>
                <a:path h="1372616" w="1372616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cubicBezTo>
                    <a:pt x="1065276" y="0"/>
                    <a:pt x="1372616" y="307340"/>
                    <a:pt x="1372616" y="686308"/>
                  </a:cubicBezTo>
                  <a:cubicBezTo>
                    <a:pt x="1372616" y="1065276"/>
                    <a:pt x="1065276" y="1372616"/>
                    <a:pt x="686308" y="1372616"/>
                  </a:cubicBezTo>
                  <a:cubicBezTo>
                    <a:pt x="307340" y="1372616"/>
                    <a:pt x="0" y="1065403"/>
                    <a:pt x="0" y="686308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337097" y="2216506"/>
            <a:ext cx="846620" cy="73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33058" y="3351619"/>
            <a:ext cx="3729238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Bengali UI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33058" y="3919738"/>
            <a:ext cx="3729238" cy="1044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Full বাংলা interface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for local merchants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196902" y="1853108"/>
            <a:ext cx="4049382" cy="3568951"/>
            <a:chOff x="0" y="0"/>
            <a:chExt cx="5399176" cy="475860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99151" cy="4758563"/>
            </a:xfrm>
            <a:custGeom>
              <a:avLst/>
              <a:gdLst/>
              <a:ahLst/>
              <a:cxnLst/>
              <a:rect r="r" b="b" t="t" l="l"/>
              <a:pathLst>
                <a:path h="4758563" w="5399151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lnTo>
                    <a:pt x="5161280" y="0"/>
                  </a:lnTo>
                  <a:cubicBezTo>
                    <a:pt x="5292725" y="0"/>
                    <a:pt x="5399151" y="106553"/>
                    <a:pt x="5399151" y="237871"/>
                  </a:cubicBezTo>
                  <a:lnTo>
                    <a:pt x="5399151" y="4520692"/>
                  </a:lnTo>
                  <a:cubicBezTo>
                    <a:pt x="5399151" y="4652137"/>
                    <a:pt x="5292598" y="4758563"/>
                    <a:pt x="5161280" y="4758563"/>
                  </a:cubicBezTo>
                  <a:lnTo>
                    <a:pt x="237871" y="4758563"/>
                  </a:lnTo>
                  <a:cubicBezTo>
                    <a:pt x="106553" y="4758563"/>
                    <a:pt x="0" y="4652010"/>
                    <a:pt x="0" y="4520692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569578" y="2127647"/>
            <a:ext cx="1029500" cy="1029500"/>
            <a:chOff x="0" y="0"/>
            <a:chExt cx="1372667" cy="13726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72616" cy="1372616"/>
            </a:xfrm>
            <a:custGeom>
              <a:avLst/>
              <a:gdLst/>
              <a:ahLst/>
              <a:cxnLst/>
              <a:rect r="r" b="b" t="t" l="l"/>
              <a:pathLst>
                <a:path h="1372616" w="1372616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cubicBezTo>
                    <a:pt x="1065276" y="0"/>
                    <a:pt x="1372616" y="307340"/>
                    <a:pt x="1372616" y="686308"/>
                  </a:cubicBezTo>
                  <a:cubicBezTo>
                    <a:pt x="1372616" y="1065276"/>
                    <a:pt x="1065276" y="1372616"/>
                    <a:pt x="686308" y="1372616"/>
                  </a:cubicBezTo>
                  <a:cubicBezTo>
                    <a:pt x="307340" y="1372616"/>
                    <a:pt x="0" y="1065403"/>
                    <a:pt x="0" y="686308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661018" y="2216506"/>
            <a:ext cx="846620" cy="73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💰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56979" y="3351619"/>
            <a:ext cx="3729238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Smart Tracking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56979" y="3919738"/>
            <a:ext cx="3729238" cy="1044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Auto-calculate dues,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profit &amp; expenses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520823" y="1853108"/>
            <a:ext cx="4049382" cy="3568951"/>
            <a:chOff x="0" y="0"/>
            <a:chExt cx="5399176" cy="475860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99151" cy="4758563"/>
            </a:xfrm>
            <a:custGeom>
              <a:avLst/>
              <a:gdLst/>
              <a:ahLst/>
              <a:cxnLst/>
              <a:rect r="r" b="b" t="t" l="l"/>
              <a:pathLst>
                <a:path h="4758563" w="5399151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lnTo>
                    <a:pt x="5161280" y="0"/>
                  </a:lnTo>
                  <a:cubicBezTo>
                    <a:pt x="5292725" y="0"/>
                    <a:pt x="5399151" y="106553"/>
                    <a:pt x="5399151" y="237871"/>
                  </a:cubicBezTo>
                  <a:lnTo>
                    <a:pt x="5399151" y="4520692"/>
                  </a:lnTo>
                  <a:cubicBezTo>
                    <a:pt x="5399151" y="4652137"/>
                    <a:pt x="5292598" y="4758563"/>
                    <a:pt x="5161280" y="4758563"/>
                  </a:cubicBezTo>
                  <a:lnTo>
                    <a:pt x="237871" y="4758563"/>
                  </a:lnTo>
                  <a:cubicBezTo>
                    <a:pt x="106553" y="4758563"/>
                    <a:pt x="0" y="4652010"/>
                    <a:pt x="0" y="4520692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893500" y="2127647"/>
            <a:ext cx="1029500" cy="1029500"/>
            <a:chOff x="0" y="0"/>
            <a:chExt cx="1372667" cy="137266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72616" cy="1372616"/>
            </a:xfrm>
            <a:custGeom>
              <a:avLst/>
              <a:gdLst/>
              <a:ahLst/>
              <a:cxnLst/>
              <a:rect r="r" b="b" t="t" l="l"/>
              <a:pathLst>
                <a:path h="1372616" w="1372616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cubicBezTo>
                    <a:pt x="1065276" y="0"/>
                    <a:pt x="1372616" y="307340"/>
                    <a:pt x="1372616" y="686308"/>
                  </a:cubicBezTo>
                  <a:cubicBezTo>
                    <a:pt x="1372616" y="1065276"/>
                    <a:pt x="1065276" y="1372616"/>
                    <a:pt x="686308" y="1372616"/>
                  </a:cubicBezTo>
                  <a:cubicBezTo>
                    <a:pt x="307340" y="1372616"/>
                    <a:pt x="0" y="1065403"/>
                    <a:pt x="0" y="686308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4984940" y="2216506"/>
            <a:ext cx="846620" cy="73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📦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680900" y="3351619"/>
            <a:ext cx="3729238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Inventory Mgmt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680900" y="3919738"/>
            <a:ext cx="3729238" cy="1044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 catalog with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low-stock alerts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549069" y="5833853"/>
            <a:ext cx="4049382" cy="3568951"/>
            <a:chOff x="0" y="0"/>
            <a:chExt cx="5399176" cy="475860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99151" cy="4758563"/>
            </a:xfrm>
            <a:custGeom>
              <a:avLst/>
              <a:gdLst/>
              <a:ahLst/>
              <a:cxnLst/>
              <a:rect r="r" b="b" t="t" l="l"/>
              <a:pathLst>
                <a:path h="4758563" w="5399151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lnTo>
                    <a:pt x="5161280" y="0"/>
                  </a:lnTo>
                  <a:cubicBezTo>
                    <a:pt x="5292725" y="0"/>
                    <a:pt x="5399151" y="106553"/>
                    <a:pt x="5399151" y="237871"/>
                  </a:cubicBezTo>
                  <a:lnTo>
                    <a:pt x="5399151" y="4520692"/>
                  </a:lnTo>
                  <a:cubicBezTo>
                    <a:pt x="5399151" y="4652137"/>
                    <a:pt x="5292598" y="4758563"/>
                    <a:pt x="5161280" y="4758563"/>
                  </a:cubicBezTo>
                  <a:lnTo>
                    <a:pt x="237871" y="4758563"/>
                  </a:lnTo>
                  <a:cubicBezTo>
                    <a:pt x="106553" y="4758563"/>
                    <a:pt x="0" y="4652010"/>
                    <a:pt x="0" y="4520692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921745" y="6108392"/>
            <a:ext cx="1029500" cy="1029500"/>
            <a:chOff x="0" y="0"/>
            <a:chExt cx="1372667" cy="137266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72616" cy="1372616"/>
            </a:xfrm>
            <a:custGeom>
              <a:avLst/>
              <a:gdLst/>
              <a:ahLst/>
              <a:cxnLst/>
              <a:rect r="r" b="b" t="t" l="l"/>
              <a:pathLst>
                <a:path h="1372616" w="1372616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cubicBezTo>
                    <a:pt x="1065276" y="0"/>
                    <a:pt x="1372616" y="307340"/>
                    <a:pt x="1372616" y="686308"/>
                  </a:cubicBezTo>
                  <a:cubicBezTo>
                    <a:pt x="1372616" y="1065276"/>
                    <a:pt x="1065276" y="1372616"/>
                    <a:pt x="686308" y="1372616"/>
                  </a:cubicBezTo>
                  <a:cubicBezTo>
                    <a:pt x="307340" y="1372616"/>
                    <a:pt x="0" y="1065403"/>
                    <a:pt x="0" y="686308"/>
                  </a:cubicBezTo>
                  <a:close/>
                </a:path>
              </a:pathLst>
            </a:custGeom>
            <a:solidFill>
              <a:srgbClr val="8E44AD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2013185" y="6197251"/>
            <a:ext cx="846620" cy="73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💳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09146" y="7332364"/>
            <a:ext cx="3729238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QR Payments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09146" y="7900483"/>
            <a:ext cx="3729238" cy="1044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bKash, Nagad, Rocket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QR code support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4872990" y="5833853"/>
            <a:ext cx="4049382" cy="3568951"/>
            <a:chOff x="0" y="0"/>
            <a:chExt cx="5399176" cy="475860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99151" cy="4758563"/>
            </a:xfrm>
            <a:custGeom>
              <a:avLst/>
              <a:gdLst/>
              <a:ahLst/>
              <a:cxnLst/>
              <a:rect r="r" b="b" t="t" l="l"/>
              <a:pathLst>
                <a:path h="4758563" w="5399151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lnTo>
                    <a:pt x="5161280" y="0"/>
                  </a:lnTo>
                  <a:cubicBezTo>
                    <a:pt x="5292725" y="0"/>
                    <a:pt x="5399151" y="106553"/>
                    <a:pt x="5399151" y="237871"/>
                  </a:cubicBezTo>
                  <a:lnTo>
                    <a:pt x="5399151" y="4520692"/>
                  </a:lnTo>
                  <a:cubicBezTo>
                    <a:pt x="5399151" y="4652137"/>
                    <a:pt x="5292598" y="4758563"/>
                    <a:pt x="5161280" y="4758563"/>
                  </a:cubicBezTo>
                  <a:lnTo>
                    <a:pt x="237871" y="4758563"/>
                  </a:lnTo>
                  <a:cubicBezTo>
                    <a:pt x="106553" y="4758563"/>
                    <a:pt x="0" y="4652010"/>
                    <a:pt x="0" y="4520692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245657" y="6108392"/>
            <a:ext cx="1029500" cy="1029500"/>
            <a:chOff x="0" y="0"/>
            <a:chExt cx="1372667" cy="137266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72616" cy="1372616"/>
            </a:xfrm>
            <a:custGeom>
              <a:avLst/>
              <a:gdLst/>
              <a:ahLst/>
              <a:cxnLst/>
              <a:rect r="r" b="b" t="t" l="l"/>
              <a:pathLst>
                <a:path h="1372616" w="1372616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cubicBezTo>
                    <a:pt x="1065276" y="0"/>
                    <a:pt x="1372616" y="307340"/>
                    <a:pt x="1372616" y="686308"/>
                  </a:cubicBezTo>
                  <a:cubicBezTo>
                    <a:pt x="1372616" y="1065276"/>
                    <a:pt x="1065276" y="1372616"/>
                    <a:pt x="686308" y="1372616"/>
                  </a:cubicBezTo>
                  <a:cubicBezTo>
                    <a:pt x="307340" y="1372616"/>
                    <a:pt x="0" y="1065403"/>
                    <a:pt x="0" y="686308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6337097" y="6197251"/>
            <a:ext cx="846620" cy="73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☁️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033058" y="7332364"/>
            <a:ext cx="3729238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Cloud Sync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033058" y="7900483"/>
            <a:ext cx="3729238" cy="1044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Background sync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when online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196902" y="5833853"/>
            <a:ext cx="4049382" cy="3568951"/>
            <a:chOff x="0" y="0"/>
            <a:chExt cx="5399176" cy="475860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399151" cy="4758563"/>
            </a:xfrm>
            <a:custGeom>
              <a:avLst/>
              <a:gdLst/>
              <a:ahLst/>
              <a:cxnLst/>
              <a:rect r="r" b="b" t="t" l="l"/>
              <a:pathLst>
                <a:path h="4758563" w="5399151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lnTo>
                    <a:pt x="5161280" y="0"/>
                  </a:lnTo>
                  <a:cubicBezTo>
                    <a:pt x="5292725" y="0"/>
                    <a:pt x="5399151" y="106553"/>
                    <a:pt x="5399151" y="237871"/>
                  </a:cubicBezTo>
                  <a:lnTo>
                    <a:pt x="5399151" y="4520692"/>
                  </a:lnTo>
                  <a:cubicBezTo>
                    <a:pt x="5399151" y="4652137"/>
                    <a:pt x="5292598" y="4758563"/>
                    <a:pt x="5161280" y="4758563"/>
                  </a:cubicBezTo>
                  <a:lnTo>
                    <a:pt x="237871" y="4758563"/>
                  </a:lnTo>
                  <a:cubicBezTo>
                    <a:pt x="106553" y="4758563"/>
                    <a:pt x="0" y="4652010"/>
                    <a:pt x="0" y="4520692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569578" y="6108392"/>
            <a:ext cx="1029500" cy="1029500"/>
            <a:chOff x="0" y="0"/>
            <a:chExt cx="1372667" cy="137266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72616" cy="1372616"/>
            </a:xfrm>
            <a:custGeom>
              <a:avLst/>
              <a:gdLst/>
              <a:ahLst/>
              <a:cxnLst/>
              <a:rect r="r" b="b" t="t" l="l"/>
              <a:pathLst>
                <a:path h="1372616" w="1372616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cubicBezTo>
                    <a:pt x="1065276" y="0"/>
                    <a:pt x="1372616" y="307340"/>
                    <a:pt x="1372616" y="686308"/>
                  </a:cubicBezTo>
                  <a:cubicBezTo>
                    <a:pt x="1372616" y="1065276"/>
                    <a:pt x="1065276" y="1372616"/>
                    <a:pt x="686308" y="1372616"/>
                  </a:cubicBezTo>
                  <a:cubicBezTo>
                    <a:pt x="307340" y="1372616"/>
                    <a:pt x="0" y="1065403"/>
                    <a:pt x="0" y="686308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0661018" y="6197251"/>
            <a:ext cx="846620" cy="73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📊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356979" y="7332364"/>
            <a:ext cx="3729238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356979" y="7900483"/>
            <a:ext cx="3729238" cy="1044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Daily/weekly/monthly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PDF &amp; Excel export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3520823" y="5833853"/>
            <a:ext cx="4049382" cy="3568951"/>
            <a:chOff x="0" y="0"/>
            <a:chExt cx="5399176" cy="475860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99151" cy="4758563"/>
            </a:xfrm>
            <a:custGeom>
              <a:avLst/>
              <a:gdLst/>
              <a:ahLst/>
              <a:cxnLst/>
              <a:rect r="r" b="b" t="t" l="l"/>
              <a:pathLst>
                <a:path h="4758563" w="5399151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lnTo>
                    <a:pt x="5161280" y="0"/>
                  </a:lnTo>
                  <a:cubicBezTo>
                    <a:pt x="5292725" y="0"/>
                    <a:pt x="5399151" y="106553"/>
                    <a:pt x="5399151" y="237871"/>
                  </a:cubicBezTo>
                  <a:lnTo>
                    <a:pt x="5399151" y="4520692"/>
                  </a:lnTo>
                  <a:cubicBezTo>
                    <a:pt x="5399151" y="4652137"/>
                    <a:pt x="5292598" y="4758563"/>
                    <a:pt x="5161280" y="4758563"/>
                  </a:cubicBezTo>
                  <a:lnTo>
                    <a:pt x="237871" y="4758563"/>
                  </a:lnTo>
                  <a:cubicBezTo>
                    <a:pt x="106553" y="4758563"/>
                    <a:pt x="0" y="4652010"/>
                    <a:pt x="0" y="4520692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4893500" y="6108392"/>
            <a:ext cx="1029500" cy="1029500"/>
            <a:chOff x="0" y="0"/>
            <a:chExt cx="1372667" cy="137266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72616" cy="1372616"/>
            </a:xfrm>
            <a:custGeom>
              <a:avLst/>
              <a:gdLst/>
              <a:ahLst/>
              <a:cxnLst/>
              <a:rect r="r" b="b" t="t" l="l"/>
              <a:pathLst>
                <a:path h="1372616" w="1372616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cubicBezTo>
                    <a:pt x="1065276" y="0"/>
                    <a:pt x="1372616" y="307340"/>
                    <a:pt x="1372616" y="686308"/>
                  </a:cubicBezTo>
                  <a:cubicBezTo>
                    <a:pt x="1372616" y="1065276"/>
                    <a:pt x="1065276" y="1372616"/>
                    <a:pt x="686308" y="1372616"/>
                  </a:cubicBezTo>
                  <a:cubicBezTo>
                    <a:pt x="307340" y="1372616"/>
                    <a:pt x="0" y="1065403"/>
                    <a:pt x="0" y="686308"/>
                  </a:cubicBezTo>
                  <a:close/>
                </a:path>
              </a:pathLst>
            </a:custGeom>
            <a:solidFill>
              <a:srgbClr val="E74C3C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14984940" y="6197251"/>
            <a:ext cx="846620" cy="73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🔐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680900" y="7332364"/>
            <a:ext cx="3729238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Secure Auth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680900" y="7900483"/>
            <a:ext cx="3729238" cy="1044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OTP-based login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JWT tokens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03244" y="9684963"/>
            <a:ext cx="3935139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by: Sudipto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343167"/>
            <a:ext cx="823608" cy="823608"/>
            <a:chOff x="0" y="0"/>
            <a:chExt cx="1098144" cy="1098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33450" y="0"/>
                  </a:lnTo>
                  <a:cubicBezTo>
                    <a:pt x="1024382" y="0"/>
                    <a:pt x="1098169" y="73787"/>
                    <a:pt x="1098169" y="164719"/>
                  </a:cubicBezTo>
                  <a:lnTo>
                    <a:pt x="1098169" y="933450"/>
                  </a:lnTo>
                  <a:cubicBezTo>
                    <a:pt x="1098169" y="1024382"/>
                    <a:pt x="1024382" y="1098169"/>
                    <a:pt x="933450" y="1098169"/>
                  </a:cubicBezTo>
                  <a:lnTo>
                    <a:pt x="164719" y="1098169"/>
                  </a:lnTo>
                  <a:cubicBezTo>
                    <a:pt x="73787" y="1098169"/>
                    <a:pt x="0" y="1024382"/>
                    <a:pt x="0" y="93345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363398"/>
            <a:ext cx="640728" cy="73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646" y="293637"/>
            <a:ext cx="13543845" cy="75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Stakeholders &amp; Requirements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47206" y="1194225"/>
            <a:ext cx="3431677" cy="57198"/>
            <a:chOff x="0" y="0"/>
            <a:chExt cx="457556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5556" cy="76200"/>
            </a:xfrm>
            <a:custGeom>
              <a:avLst/>
              <a:gdLst/>
              <a:ahLst/>
              <a:cxnLst/>
              <a:rect r="r" b="b" t="t" l="l"/>
              <a:pathLst>
                <a:path h="76200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38646" y="1302134"/>
            <a:ext cx="13543845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Who uses TakaTracker and what do they need?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11804" y="1853108"/>
            <a:ext cx="4118019" cy="3980755"/>
            <a:chOff x="0" y="0"/>
            <a:chExt cx="5490693" cy="53076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90718" cy="5307711"/>
            </a:xfrm>
            <a:custGeom>
              <a:avLst/>
              <a:gdLst/>
              <a:ahLst/>
              <a:cxnLst/>
              <a:rect r="r" b="b" t="t" l="l"/>
              <a:pathLst>
                <a:path h="5307711" w="5490718">
                  <a:moveTo>
                    <a:pt x="0" y="212344"/>
                  </a:moveTo>
                  <a:cubicBezTo>
                    <a:pt x="0" y="94996"/>
                    <a:pt x="94996" y="0"/>
                    <a:pt x="212344" y="0"/>
                  </a:cubicBezTo>
                  <a:lnTo>
                    <a:pt x="5278374" y="0"/>
                  </a:lnTo>
                  <a:cubicBezTo>
                    <a:pt x="5395595" y="0"/>
                    <a:pt x="5490718" y="94996"/>
                    <a:pt x="5490718" y="212344"/>
                  </a:cubicBezTo>
                  <a:lnTo>
                    <a:pt x="5490718" y="5095367"/>
                  </a:lnTo>
                  <a:cubicBezTo>
                    <a:pt x="5490718" y="5212588"/>
                    <a:pt x="5395722" y="5307711"/>
                    <a:pt x="5278374" y="5307711"/>
                  </a:cubicBezTo>
                  <a:lnTo>
                    <a:pt x="212344" y="5307711"/>
                  </a:lnTo>
                  <a:cubicBezTo>
                    <a:pt x="94996" y="5307711"/>
                    <a:pt x="0" y="5212588"/>
                    <a:pt x="0" y="5095367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11804" y="1853108"/>
            <a:ext cx="4118019" cy="76257"/>
            <a:chOff x="0" y="0"/>
            <a:chExt cx="5490693" cy="1016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90718" cy="101727"/>
            </a:xfrm>
            <a:custGeom>
              <a:avLst/>
              <a:gdLst/>
              <a:ahLst/>
              <a:cxnLst/>
              <a:rect r="r" b="b" t="t" l="l"/>
              <a:pathLst>
                <a:path h="101727" w="5490718">
                  <a:moveTo>
                    <a:pt x="0" y="0"/>
                  </a:moveTo>
                  <a:lnTo>
                    <a:pt x="5490718" y="0"/>
                  </a:lnTo>
                  <a:lnTo>
                    <a:pt x="5490718" y="101727"/>
                  </a:lnTo>
                  <a:lnTo>
                    <a:pt x="0" y="101727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03244" y="2028530"/>
            <a:ext cx="3935139" cy="533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🧑‍💼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0509" y="2606173"/>
            <a:ext cx="3660600" cy="64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Small Merchants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0509" y="3370669"/>
            <a:ext cx="3660600" cy="6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Primary users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recording daily transactions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0509" y="4194267"/>
            <a:ext cx="3660600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Needs: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0509" y="4537443"/>
            <a:ext cx="3660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Easy UI, offline, বাংলা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804353" y="1853108"/>
            <a:ext cx="4118019" cy="3980755"/>
            <a:chOff x="0" y="0"/>
            <a:chExt cx="5490693" cy="53076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90718" cy="5307711"/>
            </a:xfrm>
            <a:custGeom>
              <a:avLst/>
              <a:gdLst/>
              <a:ahLst/>
              <a:cxnLst/>
              <a:rect r="r" b="b" t="t" l="l"/>
              <a:pathLst>
                <a:path h="5307711" w="5490718">
                  <a:moveTo>
                    <a:pt x="0" y="212344"/>
                  </a:moveTo>
                  <a:cubicBezTo>
                    <a:pt x="0" y="94996"/>
                    <a:pt x="94996" y="0"/>
                    <a:pt x="212344" y="0"/>
                  </a:cubicBezTo>
                  <a:lnTo>
                    <a:pt x="5278374" y="0"/>
                  </a:lnTo>
                  <a:cubicBezTo>
                    <a:pt x="5395595" y="0"/>
                    <a:pt x="5490718" y="94996"/>
                    <a:pt x="5490718" y="212344"/>
                  </a:cubicBezTo>
                  <a:lnTo>
                    <a:pt x="5490718" y="5095367"/>
                  </a:lnTo>
                  <a:cubicBezTo>
                    <a:pt x="5490718" y="5212588"/>
                    <a:pt x="5395722" y="5307711"/>
                    <a:pt x="5278374" y="5307711"/>
                  </a:cubicBezTo>
                  <a:lnTo>
                    <a:pt x="212344" y="5307711"/>
                  </a:lnTo>
                  <a:cubicBezTo>
                    <a:pt x="94996" y="5307711"/>
                    <a:pt x="0" y="5212588"/>
                    <a:pt x="0" y="5095367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804353" y="1853108"/>
            <a:ext cx="4118019" cy="76257"/>
            <a:chOff x="0" y="0"/>
            <a:chExt cx="5490693" cy="1016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90718" cy="101727"/>
            </a:xfrm>
            <a:custGeom>
              <a:avLst/>
              <a:gdLst/>
              <a:ahLst/>
              <a:cxnLst/>
              <a:rect r="r" b="b" t="t" l="l"/>
              <a:pathLst>
                <a:path h="101727" w="5490718">
                  <a:moveTo>
                    <a:pt x="0" y="0"/>
                  </a:moveTo>
                  <a:lnTo>
                    <a:pt x="5490718" y="0"/>
                  </a:lnTo>
                  <a:lnTo>
                    <a:pt x="5490718" y="101727"/>
                  </a:lnTo>
                  <a:lnTo>
                    <a:pt x="0" y="101727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4895793" y="2028530"/>
            <a:ext cx="3935139" cy="533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👷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33058" y="2606173"/>
            <a:ext cx="3660600" cy="64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Shop Staff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033058" y="3370669"/>
            <a:ext cx="3660600" cy="6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Employees recording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transactions for owners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033058" y="4194267"/>
            <a:ext cx="3660600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Needs: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033058" y="4537443"/>
            <a:ext cx="3660600" cy="90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Simple interface,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restricted access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96902" y="1853108"/>
            <a:ext cx="4118019" cy="3980755"/>
            <a:chOff x="0" y="0"/>
            <a:chExt cx="5490693" cy="530767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90718" cy="5307711"/>
            </a:xfrm>
            <a:custGeom>
              <a:avLst/>
              <a:gdLst/>
              <a:ahLst/>
              <a:cxnLst/>
              <a:rect r="r" b="b" t="t" l="l"/>
              <a:pathLst>
                <a:path h="5307711" w="5490718">
                  <a:moveTo>
                    <a:pt x="0" y="212344"/>
                  </a:moveTo>
                  <a:cubicBezTo>
                    <a:pt x="0" y="94996"/>
                    <a:pt x="94996" y="0"/>
                    <a:pt x="212344" y="0"/>
                  </a:cubicBezTo>
                  <a:lnTo>
                    <a:pt x="5278374" y="0"/>
                  </a:lnTo>
                  <a:cubicBezTo>
                    <a:pt x="5395595" y="0"/>
                    <a:pt x="5490718" y="94996"/>
                    <a:pt x="5490718" y="212344"/>
                  </a:cubicBezTo>
                  <a:lnTo>
                    <a:pt x="5490718" y="5095367"/>
                  </a:lnTo>
                  <a:cubicBezTo>
                    <a:pt x="5490718" y="5212588"/>
                    <a:pt x="5395722" y="5307711"/>
                    <a:pt x="5278374" y="5307711"/>
                  </a:cubicBezTo>
                  <a:lnTo>
                    <a:pt x="212344" y="5307711"/>
                  </a:lnTo>
                  <a:cubicBezTo>
                    <a:pt x="94996" y="5307711"/>
                    <a:pt x="0" y="5212588"/>
                    <a:pt x="0" y="5095367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96902" y="1853108"/>
            <a:ext cx="4118019" cy="76257"/>
            <a:chOff x="0" y="0"/>
            <a:chExt cx="5490693" cy="1016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90718" cy="101727"/>
            </a:xfrm>
            <a:custGeom>
              <a:avLst/>
              <a:gdLst/>
              <a:ahLst/>
              <a:cxnLst/>
              <a:rect r="r" b="b" t="t" l="l"/>
              <a:pathLst>
                <a:path h="101727" w="5490718">
                  <a:moveTo>
                    <a:pt x="0" y="0"/>
                  </a:moveTo>
                  <a:lnTo>
                    <a:pt x="5490718" y="0"/>
                  </a:lnTo>
                  <a:lnTo>
                    <a:pt x="5490718" y="101727"/>
                  </a:lnTo>
                  <a:lnTo>
                    <a:pt x="0" y="101727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288342" y="2028530"/>
            <a:ext cx="3935139" cy="533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🔧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25616" y="2606173"/>
            <a:ext cx="3660600" cy="64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Admin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25616" y="3370669"/>
            <a:ext cx="3660600" cy="6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Managing infrastructure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and deployments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25616" y="4194267"/>
            <a:ext cx="3660600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Needs: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25616" y="4537443"/>
            <a:ext cx="3660600" cy="90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Reliable API,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monitoring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589460" y="1853108"/>
            <a:ext cx="4118019" cy="3980755"/>
            <a:chOff x="0" y="0"/>
            <a:chExt cx="5490693" cy="530767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90718" cy="5307711"/>
            </a:xfrm>
            <a:custGeom>
              <a:avLst/>
              <a:gdLst/>
              <a:ahLst/>
              <a:cxnLst/>
              <a:rect r="r" b="b" t="t" l="l"/>
              <a:pathLst>
                <a:path h="5307711" w="5490718">
                  <a:moveTo>
                    <a:pt x="0" y="212344"/>
                  </a:moveTo>
                  <a:cubicBezTo>
                    <a:pt x="0" y="94996"/>
                    <a:pt x="94996" y="0"/>
                    <a:pt x="212344" y="0"/>
                  </a:cubicBezTo>
                  <a:lnTo>
                    <a:pt x="5278374" y="0"/>
                  </a:lnTo>
                  <a:cubicBezTo>
                    <a:pt x="5395595" y="0"/>
                    <a:pt x="5490718" y="94996"/>
                    <a:pt x="5490718" y="212344"/>
                  </a:cubicBezTo>
                  <a:lnTo>
                    <a:pt x="5490718" y="5095367"/>
                  </a:lnTo>
                  <a:cubicBezTo>
                    <a:pt x="5490718" y="5212588"/>
                    <a:pt x="5395722" y="5307711"/>
                    <a:pt x="5278374" y="5307711"/>
                  </a:cubicBezTo>
                  <a:lnTo>
                    <a:pt x="212344" y="5307711"/>
                  </a:lnTo>
                  <a:cubicBezTo>
                    <a:pt x="94996" y="5307711"/>
                    <a:pt x="0" y="5212588"/>
                    <a:pt x="0" y="5095367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589460" y="1853108"/>
            <a:ext cx="4118019" cy="76257"/>
            <a:chOff x="0" y="0"/>
            <a:chExt cx="5490693" cy="1016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90718" cy="101727"/>
            </a:xfrm>
            <a:custGeom>
              <a:avLst/>
              <a:gdLst/>
              <a:ahLst/>
              <a:cxnLst/>
              <a:rect r="r" b="b" t="t" l="l"/>
              <a:pathLst>
                <a:path h="101727" w="5490718">
                  <a:moveTo>
                    <a:pt x="0" y="0"/>
                  </a:moveTo>
                  <a:lnTo>
                    <a:pt x="5490718" y="0"/>
                  </a:lnTo>
                  <a:lnTo>
                    <a:pt x="5490718" y="101727"/>
                  </a:lnTo>
                  <a:lnTo>
                    <a:pt x="0" y="101727"/>
                  </a:lnTo>
                  <a:close/>
                </a:path>
              </a:pathLst>
            </a:custGeom>
            <a:solidFill>
              <a:srgbClr val="8E44AD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3680900" y="2028530"/>
            <a:ext cx="3935139" cy="533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👨‍🏫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818165" y="2606173"/>
            <a:ext cx="36606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Suppliers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818165" y="3370669"/>
            <a:ext cx="3660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rack credit extended to merchants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818165" y="4194267"/>
            <a:ext cx="3660600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8E44A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Needs: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818165" y="4537443"/>
            <a:ext cx="3660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asy UI, offline, বাংলা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40509" y="6037850"/>
            <a:ext cx="6680483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📋  Key Functional Requirements</a:t>
            </a:r>
          </a:p>
        </p:txBody>
      </p:sp>
      <p:graphicFrame>
        <p:nvGraphicFramePr>
          <p:cNvPr name="Table 46" id="46"/>
          <p:cNvGraphicFramePr>
            <a:graphicFrameLocks noGrp="true"/>
          </p:cNvGraphicFramePr>
          <p:nvPr/>
        </p:nvGraphicFramePr>
        <p:xfrm>
          <a:off x="549069" y="6520194"/>
          <a:ext cx="17158405" cy="2745345"/>
        </p:xfrm>
        <a:graphic>
          <a:graphicData uri="http://schemas.openxmlformats.org/drawingml/2006/table">
            <a:tbl>
              <a:tblPr/>
              <a:tblGrid>
                <a:gridCol w="4289601"/>
                <a:gridCol w="4289601"/>
                <a:gridCol w="4289601"/>
                <a:gridCol w="4289601"/>
              </a:tblGrid>
              <a:tr h="3431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Requirement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Priority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Status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3431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OTP Authentication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✅ Done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</a:tr>
              <a:tr h="3431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Transaction Recording (7 types)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✅ Done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</a:tr>
              <a:tr h="3431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Contact &amp; Dues Tracking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✅ Done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</a:tr>
              <a:tr h="3431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Offline-First Architecture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✅ Done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</a:tr>
              <a:tr h="3431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Bengali Localization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✅ Done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</a:tr>
              <a:tr h="3431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Inventory Management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✅ Done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</a:tr>
              <a:tr h="3431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QR Payment Generation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⏳ Partial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</a:tr>
            </a:tbl>
          </a:graphicData>
        </a:graphic>
      </p:graphicFrame>
      <p:sp>
        <p:nvSpPr>
          <p:cNvPr name="TextBox 47" id="47"/>
          <p:cNvSpPr txBox="true"/>
          <p:nvPr/>
        </p:nvSpPr>
        <p:spPr>
          <a:xfrm rot="0">
            <a:off x="503244" y="9684963"/>
            <a:ext cx="393513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by: Sudipto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343167"/>
            <a:ext cx="823608" cy="823608"/>
            <a:chOff x="0" y="0"/>
            <a:chExt cx="1098144" cy="1098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33450" y="0"/>
                  </a:lnTo>
                  <a:cubicBezTo>
                    <a:pt x="1024382" y="0"/>
                    <a:pt x="1098169" y="73787"/>
                    <a:pt x="1098169" y="164719"/>
                  </a:cubicBezTo>
                  <a:lnTo>
                    <a:pt x="1098169" y="933450"/>
                  </a:lnTo>
                  <a:cubicBezTo>
                    <a:pt x="1098169" y="1024382"/>
                    <a:pt x="1024382" y="1098169"/>
                    <a:pt x="933450" y="1098169"/>
                  </a:cubicBezTo>
                  <a:lnTo>
                    <a:pt x="164719" y="1098169"/>
                  </a:lnTo>
                  <a:cubicBezTo>
                    <a:pt x="73787" y="1098169"/>
                    <a:pt x="0" y="1024382"/>
                    <a:pt x="0" y="93345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363398"/>
            <a:ext cx="6407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646" y="293637"/>
            <a:ext cx="13543845" cy="75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Architecture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47206" y="1194225"/>
            <a:ext cx="3431677" cy="57198"/>
            <a:chOff x="0" y="0"/>
            <a:chExt cx="457556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5556" cy="76200"/>
            </a:xfrm>
            <a:custGeom>
              <a:avLst/>
              <a:gdLst/>
              <a:ahLst/>
              <a:cxnLst/>
              <a:rect r="r" b="b" t="t" l="l"/>
              <a:pathLst>
                <a:path h="76200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47206" y="1503388"/>
            <a:ext cx="13543845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Three-tier architecture with offline-first design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981382" y="1784471"/>
            <a:ext cx="6863363" cy="2402176"/>
            <a:chOff x="0" y="0"/>
            <a:chExt cx="9151150" cy="32029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51239" cy="3202940"/>
            </a:xfrm>
            <a:custGeom>
              <a:avLst/>
              <a:gdLst/>
              <a:ahLst/>
              <a:cxnLst/>
              <a:rect r="r" b="b" t="t" l="l"/>
              <a:pathLst>
                <a:path h="3202940" w="9151239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9023096" y="0"/>
                  </a:lnTo>
                  <a:cubicBezTo>
                    <a:pt x="9093835" y="0"/>
                    <a:pt x="9151239" y="57404"/>
                    <a:pt x="9151239" y="128143"/>
                  </a:cubicBezTo>
                  <a:lnTo>
                    <a:pt x="9151239" y="3074797"/>
                  </a:lnTo>
                  <a:cubicBezTo>
                    <a:pt x="9151239" y="3145536"/>
                    <a:pt x="9093835" y="3202940"/>
                    <a:pt x="9023096" y="3202940"/>
                  </a:cubicBezTo>
                  <a:lnTo>
                    <a:pt x="128143" y="3202940"/>
                  </a:lnTo>
                  <a:cubicBezTo>
                    <a:pt x="57404" y="3202940"/>
                    <a:pt x="0" y="3145536"/>
                    <a:pt x="0" y="3074797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981382" y="1784471"/>
            <a:ext cx="76257" cy="2402176"/>
            <a:chOff x="0" y="0"/>
            <a:chExt cx="101676" cy="32029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727" cy="3202940"/>
            </a:xfrm>
            <a:custGeom>
              <a:avLst/>
              <a:gdLst/>
              <a:ahLst/>
              <a:cxnLst/>
              <a:rect r="r" b="b" t="t" l="l"/>
              <a:pathLst>
                <a:path h="3202940" w="101727">
                  <a:moveTo>
                    <a:pt x="0" y="0"/>
                  </a:moveTo>
                  <a:lnTo>
                    <a:pt x="101727" y="0"/>
                  </a:lnTo>
                  <a:lnTo>
                    <a:pt x="101727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347352" y="1892379"/>
            <a:ext cx="6131414" cy="34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📱 Mobile Layer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21891" y="2350684"/>
            <a:ext cx="585687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React Native + Expo SDK 54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21891" y="2735037"/>
            <a:ext cx="585687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Zustand state management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21891" y="3119380"/>
            <a:ext cx="585687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AsyncStorage persistence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21891" y="3503733"/>
            <a:ext cx="585687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Custom sync engine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981382" y="4323921"/>
            <a:ext cx="6863363" cy="2402176"/>
            <a:chOff x="0" y="0"/>
            <a:chExt cx="9151150" cy="320290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51239" cy="3202940"/>
            </a:xfrm>
            <a:custGeom>
              <a:avLst/>
              <a:gdLst/>
              <a:ahLst/>
              <a:cxnLst/>
              <a:rect r="r" b="b" t="t" l="l"/>
              <a:pathLst>
                <a:path h="3202940" w="9151239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9023096" y="0"/>
                  </a:lnTo>
                  <a:cubicBezTo>
                    <a:pt x="9093835" y="0"/>
                    <a:pt x="9151239" y="57404"/>
                    <a:pt x="9151239" y="128143"/>
                  </a:cubicBezTo>
                  <a:lnTo>
                    <a:pt x="9151239" y="3074797"/>
                  </a:lnTo>
                  <a:cubicBezTo>
                    <a:pt x="9151239" y="3145536"/>
                    <a:pt x="9093835" y="3202940"/>
                    <a:pt x="9023096" y="3202940"/>
                  </a:cubicBezTo>
                  <a:lnTo>
                    <a:pt x="128143" y="3202940"/>
                  </a:lnTo>
                  <a:cubicBezTo>
                    <a:pt x="57404" y="3202940"/>
                    <a:pt x="0" y="3145536"/>
                    <a:pt x="0" y="3074797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981382" y="4323921"/>
            <a:ext cx="76257" cy="2402176"/>
            <a:chOff x="0" y="0"/>
            <a:chExt cx="101676" cy="32029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727" cy="3202940"/>
            </a:xfrm>
            <a:custGeom>
              <a:avLst/>
              <a:gdLst/>
              <a:ahLst/>
              <a:cxnLst/>
              <a:rect r="r" b="b" t="t" l="l"/>
              <a:pathLst>
                <a:path h="3202940" w="101727">
                  <a:moveTo>
                    <a:pt x="0" y="0"/>
                  </a:moveTo>
                  <a:lnTo>
                    <a:pt x="101727" y="0"/>
                  </a:lnTo>
                  <a:lnTo>
                    <a:pt x="101727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47352" y="4431830"/>
            <a:ext cx="6131414" cy="34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🌐 API Layer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21891" y="4890135"/>
            <a:ext cx="585687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Django REST Framework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21891" y="5274478"/>
            <a:ext cx="585687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JWT (SimpleJWT) auth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21891" y="5658831"/>
            <a:ext cx="585687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Celery + Redis workers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21891" y="6043174"/>
            <a:ext cx="585687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RESTful HTTPS protocol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990907" y="6863363"/>
            <a:ext cx="6863363" cy="2402176"/>
            <a:chOff x="0" y="0"/>
            <a:chExt cx="9151150" cy="32029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51239" cy="3202940"/>
            </a:xfrm>
            <a:custGeom>
              <a:avLst/>
              <a:gdLst/>
              <a:ahLst/>
              <a:cxnLst/>
              <a:rect r="r" b="b" t="t" l="l"/>
              <a:pathLst>
                <a:path h="3202940" w="9151239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9023096" y="0"/>
                  </a:lnTo>
                  <a:cubicBezTo>
                    <a:pt x="9093835" y="0"/>
                    <a:pt x="9151239" y="57404"/>
                    <a:pt x="9151239" y="128143"/>
                  </a:cubicBezTo>
                  <a:lnTo>
                    <a:pt x="9151239" y="3074797"/>
                  </a:lnTo>
                  <a:cubicBezTo>
                    <a:pt x="9151239" y="3145536"/>
                    <a:pt x="9093835" y="3202940"/>
                    <a:pt x="9023096" y="3202940"/>
                  </a:cubicBezTo>
                  <a:lnTo>
                    <a:pt x="128143" y="3202940"/>
                  </a:lnTo>
                  <a:cubicBezTo>
                    <a:pt x="57404" y="3202940"/>
                    <a:pt x="0" y="3145536"/>
                    <a:pt x="0" y="3074797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981382" y="6863363"/>
            <a:ext cx="76257" cy="2402176"/>
            <a:chOff x="0" y="0"/>
            <a:chExt cx="101676" cy="320290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727" cy="3202940"/>
            </a:xfrm>
            <a:custGeom>
              <a:avLst/>
              <a:gdLst/>
              <a:ahLst/>
              <a:cxnLst/>
              <a:rect r="r" b="b" t="t" l="l"/>
              <a:pathLst>
                <a:path h="3202940" w="101727">
                  <a:moveTo>
                    <a:pt x="0" y="0"/>
                  </a:moveTo>
                  <a:lnTo>
                    <a:pt x="101727" y="0"/>
                  </a:lnTo>
                  <a:lnTo>
                    <a:pt x="101727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1347352" y="6971271"/>
            <a:ext cx="6131414" cy="34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💾 Data Layer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21891" y="7429576"/>
            <a:ext cx="585687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PostgreSQL (primary DB)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621891" y="7813919"/>
            <a:ext cx="585687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Redis (cache + queue broker)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621891" y="8198272"/>
            <a:ext cx="585687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S3 / local file storage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621891" y="8582625"/>
            <a:ext cx="585687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UUID primary keys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674835" y="9684963"/>
            <a:ext cx="393513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by: Sudipto</a:t>
            </a:r>
          </a:p>
        </p:txBody>
      </p:sp>
      <p:sp>
        <p:nvSpPr>
          <p:cNvPr name="Freeform 37" id="37" descr="system_architecture_1775851728028.png"/>
          <p:cNvSpPr/>
          <p:nvPr/>
        </p:nvSpPr>
        <p:spPr>
          <a:xfrm flipH="false" flipV="false" rot="0">
            <a:off x="549069" y="2054304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343167"/>
            <a:ext cx="823608" cy="823608"/>
            <a:chOff x="0" y="0"/>
            <a:chExt cx="1098144" cy="1098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33450" y="0"/>
                  </a:lnTo>
                  <a:cubicBezTo>
                    <a:pt x="1024382" y="0"/>
                    <a:pt x="1098169" y="73787"/>
                    <a:pt x="1098169" y="164719"/>
                  </a:cubicBezTo>
                  <a:lnTo>
                    <a:pt x="1098169" y="933450"/>
                  </a:lnTo>
                  <a:cubicBezTo>
                    <a:pt x="1098169" y="1024382"/>
                    <a:pt x="1024382" y="1098169"/>
                    <a:pt x="933450" y="1098169"/>
                  </a:cubicBezTo>
                  <a:lnTo>
                    <a:pt x="164719" y="1098169"/>
                  </a:lnTo>
                  <a:cubicBezTo>
                    <a:pt x="73787" y="1098169"/>
                    <a:pt x="0" y="1024382"/>
                    <a:pt x="0" y="93345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363398"/>
            <a:ext cx="6407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646" y="293637"/>
            <a:ext cx="13543845" cy="75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Technology Stack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47206" y="1194225"/>
            <a:ext cx="3431677" cy="57198"/>
            <a:chOff x="0" y="0"/>
            <a:chExt cx="457556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5556" cy="76200"/>
            </a:xfrm>
            <a:custGeom>
              <a:avLst/>
              <a:gdLst/>
              <a:ahLst/>
              <a:cxnLst/>
              <a:rect r="r" b="b" t="t" l="l"/>
              <a:pathLst>
                <a:path h="76200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38646" y="1302134"/>
            <a:ext cx="13543845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Modern, scalable, and developer-friendly choices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11804" y="1784471"/>
            <a:ext cx="5559323" cy="7412431"/>
            <a:chOff x="0" y="0"/>
            <a:chExt cx="7412431" cy="98832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12482" cy="9883267"/>
            </a:xfrm>
            <a:custGeom>
              <a:avLst/>
              <a:gdLst/>
              <a:ahLst/>
              <a:cxnLst/>
              <a:rect r="r" b="b" t="t" l="l"/>
              <a:pathLst>
                <a:path h="9883267" w="7412482">
                  <a:moveTo>
                    <a:pt x="0" y="296545"/>
                  </a:moveTo>
                  <a:cubicBezTo>
                    <a:pt x="0" y="132715"/>
                    <a:pt x="132715" y="0"/>
                    <a:pt x="296545" y="0"/>
                  </a:cubicBezTo>
                  <a:lnTo>
                    <a:pt x="7115937" y="0"/>
                  </a:lnTo>
                  <a:cubicBezTo>
                    <a:pt x="7279640" y="0"/>
                    <a:pt x="7412482" y="132715"/>
                    <a:pt x="7412482" y="296545"/>
                  </a:cubicBezTo>
                  <a:lnTo>
                    <a:pt x="7412482" y="9586722"/>
                  </a:lnTo>
                  <a:cubicBezTo>
                    <a:pt x="7412482" y="9750425"/>
                    <a:pt x="7279767" y="9883267"/>
                    <a:pt x="7115937" y="9883267"/>
                  </a:cubicBezTo>
                  <a:lnTo>
                    <a:pt x="296545" y="9883267"/>
                  </a:lnTo>
                  <a:cubicBezTo>
                    <a:pt x="132715" y="9883267"/>
                    <a:pt x="0" y="9750552"/>
                    <a:pt x="0" y="9586722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09146" y="1929365"/>
            <a:ext cx="4964640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📱  Mobile App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17706" y="2470814"/>
            <a:ext cx="5147520" cy="57198"/>
            <a:chOff x="0" y="0"/>
            <a:chExt cx="6863359" cy="762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63334" cy="76200"/>
            </a:xfrm>
            <a:custGeom>
              <a:avLst/>
              <a:gdLst/>
              <a:ahLst/>
              <a:cxnLst/>
              <a:rect r="r" b="b" t="t" l="l"/>
              <a:pathLst>
                <a:path h="76200" w="6863334">
                  <a:moveTo>
                    <a:pt x="0" y="0"/>
                  </a:moveTo>
                  <a:lnTo>
                    <a:pt x="6863334" y="0"/>
                  </a:lnTo>
                  <a:lnTo>
                    <a:pt x="686333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77773" y="2684336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 Native + Expo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7773" y="2968390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Cross-platform framework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7773" y="3398120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TypeScript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7773" y="3682184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Type-safe development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7773" y="4111914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Zustand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7773" y="4395968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Lightweight state mgmt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7773" y="4825698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 Navigation 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7773" y="5109762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Stack &amp; Tab navigation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7773" y="5539492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AsyncStorage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7773" y="5823547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Offline data persistence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7773" y="6253277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i18next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7773" y="6537341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Bengali/English i18n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7773" y="6967071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Axios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7773" y="7251125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HTTP client for APIs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7773" y="7680855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CASL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77773" y="7964919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Role-based access control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245657" y="1784471"/>
            <a:ext cx="5559323" cy="7412431"/>
            <a:chOff x="0" y="0"/>
            <a:chExt cx="7412431" cy="988324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12482" cy="9883267"/>
            </a:xfrm>
            <a:custGeom>
              <a:avLst/>
              <a:gdLst/>
              <a:ahLst/>
              <a:cxnLst/>
              <a:rect r="r" b="b" t="t" l="l"/>
              <a:pathLst>
                <a:path h="9883267" w="7412482">
                  <a:moveTo>
                    <a:pt x="0" y="296545"/>
                  </a:moveTo>
                  <a:cubicBezTo>
                    <a:pt x="0" y="132715"/>
                    <a:pt x="132715" y="0"/>
                    <a:pt x="296545" y="0"/>
                  </a:cubicBezTo>
                  <a:lnTo>
                    <a:pt x="7115937" y="0"/>
                  </a:lnTo>
                  <a:cubicBezTo>
                    <a:pt x="7279640" y="0"/>
                    <a:pt x="7412482" y="132715"/>
                    <a:pt x="7412482" y="296545"/>
                  </a:cubicBezTo>
                  <a:lnTo>
                    <a:pt x="7412482" y="9586722"/>
                  </a:lnTo>
                  <a:cubicBezTo>
                    <a:pt x="7412482" y="9750425"/>
                    <a:pt x="7279767" y="9883267"/>
                    <a:pt x="7115937" y="9883267"/>
                  </a:cubicBezTo>
                  <a:lnTo>
                    <a:pt x="296545" y="9883267"/>
                  </a:lnTo>
                  <a:cubicBezTo>
                    <a:pt x="132715" y="9883267"/>
                    <a:pt x="0" y="9750552"/>
                    <a:pt x="0" y="9586722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6542999" y="1929365"/>
            <a:ext cx="4964640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⚙️  Backend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451559" y="2470814"/>
            <a:ext cx="5147520" cy="57198"/>
            <a:chOff x="0" y="0"/>
            <a:chExt cx="6863359" cy="762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63334" cy="76200"/>
            </a:xfrm>
            <a:custGeom>
              <a:avLst/>
              <a:gdLst/>
              <a:ahLst/>
              <a:cxnLst/>
              <a:rect r="r" b="b" t="t" l="l"/>
              <a:pathLst>
                <a:path h="76200" w="6863334">
                  <a:moveTo>
                    <a:pt x="0" y="0"/>
                  </a:moveTo>
                  <a:lnTo>
                    <a:pt x="6863334" y="0"/>
                  </a:lnTo>
                  <a:lnTo>
                    <a:pt x="686333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6611636" y="2684336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Django 5.x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611636" y="2968390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web framework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611636" y="3398120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Django REST Framework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611636" y="3682184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RESTful API builder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611636" y="4111914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SimpleJWT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611636" y="4395968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Token-based auth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611636" y="4825698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 15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611636" y="5109762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Relational database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611636" y="5539492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Redis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611636" y="5823547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Cache + task broker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611636" y="6253277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Celery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611636" y="6537341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Async processing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611636" y="6967071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Gunicorn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611636" y="7251125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WSGI HTTP server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611636" y="7680855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Django CORS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611636" y="7964919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Cross-origin support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2079519" y="1784471"/>
            <a:ext cx="5559323" cy="7412431"/>
            <a:chOff x="0" y="0"/>
            <a:chExt cx="7412431" cy="988324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412482" cy="9883267"/>
            </a:xfrm>
            <a:custGeom>
              <a:avLst/>
              <a:gdLst/>
              <a:ahLst/>
              <a:cxnLst/>
              <a:rect r="r" b="b" t="t" l="l"/>
              <a:pathLst>
                <a:path h="9883267" w="7412482">
                  <a:moveTo>
                    <a:pt x="0" y="296545"/>
                  </a:moveTo>
                  <a:cubicBezTo>
                    <a:pt x="0" y="132715"/>
                    <a:pt x="132715" y="0"/>
                    <a:pt x="296545" y="0"/>
                  </a:cubicBezTo>
                  <a:lnTo>
                    <a:pt x="7115937" y="0"/>
                  </a:lnTo>
                  <a:cubicBezTo>
                    <a:pt x="7279640" y="0"/>
                    <a:pt x="7412482" y="132715"/>
                    <a:pt x="7412482" y="296545"/>
                  </a:cubicBezTo>
                  <a:lnTo>
                    <a:pt x="7412482" y="9586722"/>
                  </a:lnTo>
                  <a:cubicBezTo>
                    <a:pt x="7412482" y="9750425"/>
                    <a:pt x="7279767" y="9883267"/>
                    <a:pt x="7115937" y="9883267"/>
                  </a:cubicBezTo>
                  <a:lnTo>
                    <a:pt x="296545" y="9883267"/>
                  </a:lnTo>
                  <a:cubicBezTo>
                    <a:pt x="132715" y="9883267"/>
                    <a:pt x="0" y="9750552"/>
                    <a:pt x="0" y="9586722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2376861" y="1929365"/>
            <a:ext cx="4964640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🛠️  DevOps &amp; Tools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2285421" y="2470814"/>
            <a:ext cx="5147520" cy="57198"/>
            <a:chOff x="0" y="0"/>
            <a:chExt cx="6863359" cy="7626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63334" cy="76200"/>
            </a:xfrm>
            <a:custGeom>
              <a:avLst/>
              <a:gdLst/>
              <a:ahLst/>
              <a:cxnLst/>
              <a:rect r="r" b="b" t="t" l="l"/>
              <a:pathLst>
                <a:path h="76200" w="6863334">
                  <a:moveTo>
                    <a:pt x="0" y="0"/>
                  </a:moveTo>
                  <a:lnTo>
                    <a:pt x="6863334" y="0"/>
                  </a:lnTo>
                  <a:lnTo>
                    <a:pt x="686333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2445489" y="2684336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Git + GitHub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445489" y="2968390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Version control &amp; CI/CD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445489" y="3398120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GitHub Actions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445489" y="3682184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workflows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445489" y="4111914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EAS Build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445489" y="4395968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Mobile APK builds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445489" y="4825698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Railway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445489" y="5109762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 hosting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445489" y="5539492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Docker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445489" y="5823547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Containerization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445489" y="6253277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VS Code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445489" y="6537341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Primary IDE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445489" y="6967071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Postman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445489" y="7251125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API testing &amp; docs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445489" y="7680855"/>
            <a:ext cx="4758738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pgAdmin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445489" y="7964919"/>
            <a:ext cx="4758738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Database UI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503244" y="9684963"/>
            <a:ext cx="393513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by: Sudipto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343167"/>
            <a:ext cx="823608" cy="823608"/>
            <a:chOff x="0" y="0"/>
            <a:chExt cx="1098144" cy="1098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33450" y="0"/>
                  </a:lnTo>
                  <a:cubicBezTo>
                    <a:pt x="1024382" y="0"/>
                    <a:pt x="1098169" y="73787"/>
                    <a:pt x="1098169" y="164719"/>
                  </a:cubicBezTo>
                  <a:lnTo>
                    <a:pt x="1098169" y="933450"/>
                  </a:lnTo>
                  <a:cubicBezTo>
                    <a:pt x="1098169" y="1024382"/>
                    <a:pt x="1024382" y="1098169"/>
                    <a:pt x="933450" y="1098169"/>
                  </a:cubicBezTo>
                  <a:lnTo>
                    <a:pt x="164719" y="1098169"/>
                  </a:lnTo>
                  <a:cubicBezTo>
                    <a:pt x="73787" y="1098169"/>
                    <a:pt x="0" y="1024382"/>
                    <a:pt x="0" y="93345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7206" y="1194225"/>
            <a:ext cx="3431677" cy="57198"/>
            <a:chOff x="0" y="0"/>
            <a:chExt cx="4575569" cy="762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75556" cy="76200"/>
            </a:xfrm>
            <a:custGeom>
              <a:avLst/>
              <a:gdLst/>
              <a:ahLst/>
              <a:cxnLst/>
              <a:rect r="r" b="b" t="t" l="l"/>
              <a:pathLst>
                <a:path h="76200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706843" y="1784471"/>
            <a:ext cx="7137892" cy="7686961"/>
            <a:chOff x="0" y="0"/>
            <a:chExt cx="9517190" cy="102492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17126" cy="10249281"/>
            </a:xfrm>
            <a:custGeom>
              <a:avLst/>
              <a:gdLst/>
              <a:ahLst/>
              <a:cxnLst/>
              <a:rect r="r" b="b" t="t" l="l"/>
              <a:pathLst>
                <a:path h="10249281" w="9517126">
                  <a:moveTo>
                    <a:pt x="0" y="285496"/>
                  </a:moveTo>
                  <a:cubicBezTo>
                    <a:pt x="0" y="127889"/>
                    <a:pt x="127889" y="0"/>
                    <a:pt x="285496" y="0"/>
                  </a:cubicBezTo>
                  <a:lnTo>
                    <a:pt x="9231630" y="0"/>
                  </a:lnTo>
                  <a:cubicBezTo>
                    <a:pt x="9389364" y="0"/>
                    <a:pt x="9517126" y="127889"/>
                    <a:pt x="9517126" y="285496"/>
                  </a:cubicBezTo>
                  <a:lnTo>
                    <a:pt x="9517126" y="9963785"/>
                  </a:lnTo>
                  <a:cubicBezTo>
                    <a:pt x="9517126" y="10121519"/>
                    <a:pt x="9389237" y="10249281"/>
                    <a:pt x="9231630" y="10249281"/>
                  </a:cubicBezTo>
                  <a:lnTo>
                    <a:pt x="285496" y="10249281"/>
                  </a:lnTo>
                  <a:cubicBezTo>
                    <a:pt x="127889" y="10249281"/>
                    <a:pt x="0" y="10121519"/>
                    <a:pt x="0" y="9963785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60872" y="1881626"/>
            <a:ext cx="7852459" cy="8057739"/>
          </a:xfrm>
          <a:custGeom>
            <a:avLst/>
            <a:gdLst/>
            <a:ahLst/>
            <a:cxnLst/>
            <a:rect r="r" b="b" t="t" l="l"/>
            <a:pathLst>
              <a:path h="8057739" w="7852459">
                <a:moveTo>
                  <a:pt x="0" y="0"/>
                </a:moveTo>
                <a:lnTo>
                  <a:pt x="7852459" y="0"/>
                </a:lnTo>
                <a:lnTo>
                  <a:pt x="7852459" y="8057738"/>
                </a:lnTo>
                <a:lnTo>
                  <a:pt x="0" y="8057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98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40509" y="363398"/>
            <a:ext cx="6407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38646" y="293637"/>
            <a:ext cx="13543845" cy="75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 Case Diagram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38646" y="1302134"/>
            <a:ext cx="13543845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System interaction model for all user roles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72822" y="1978943"/>
            <a:ext cx="6405944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👤  Actor Permissions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72822" y="2684336"/>
            <a:ext cx="6405944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▸  Merchant (Primary)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84616" y="3096130"/>
            <a:ext cx="5994149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Register / Login via OTP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84616" y="3378898"/>
            <a:ext cx="5994149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Record all 7 transaction types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84616" y="3675174"/>
            <a:ext cx="242366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Manage contacts &amp; inventory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84616" y="4251436"/>
            <a:ext cx="5994149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View dashboard &amp; reports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84616" y="4549102"/>
            <a:ext cx="5994149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Generate QR payments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84616" y="4864818"/>
            <a:ext cx="5994149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Switch BN / EN language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72822" y="5196326"/>
            <a:ext cx="100295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▸  Supplier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84616" y="5608120"/>
            <a:ext cx="155689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Manage Inventory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84616" y="5923836"/>
            <a:ext cx="105072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Notification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84616" y="6239551"/>
            <a:ext cx="176971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Multiilingual Support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072822" y="6761169"/>
            <a:ext cx="6405944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8E44A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▸  Admin (Backend)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84616" y="7172973"/>
            <a:ext cx="161716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Register/Login OTP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84616" y="7453772"/>
            <a:ext cx="204891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Sync Data Offline/Online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43626" y="9728606"/>
            <a:ext cx="3935139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by: Shazid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84616" y="3963305"/>
            <a:ext cx="105072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Notification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10885" y="7729997"/>
            <a:ext cx="176971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Multiilingual Support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10885" y="7984079"/>
            <a:ext cx="182299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Manage Users &amp; Data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343167"/>
            <a:ext cx="823608" cy="823608"/>
            <a:chOff x="0" y="0"/>
            <a:chExt cx="1098144" cy="1098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33450" y="0"/>
                  </a:lnTo>
                  <a:cubicBezTo>
                    <a:pt x="1024382" y="0"/>
                    <a:pt x="1098169" y="73787"/>
                    <a:pt x="1098169" y="164719"/>
                  </a:cubicBezTo>
                  <a:lnTo>
                    <a:pt x="1098169" y="933450"/>
                  </a:lnTo>
                  <a:cubicBezTo>
                    <a:pt x="1098169" y="1024382"/>
                    <a:pt x="1024382" y="1098169"/>
                    <a:pt x="933450" y="1098169"/>
                  </a:cubicBezTo>
                  <a:lnTo>
                    <a:pt x="164719" y="1098169"/>
                  </a:lnTo>
                  <a:cubicBezTo>
                    <a:pt x="73787" y="1098169"/>
                    <a:pt x="0" y="1024382"/>
                    <a:pt x="0" y="93345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7206" y="1194225"/>
            <a:ext cx="3431677" cy="57198"/>
            <a:chOff x="0" y="0"/>
            <a:chExt cx="4575569" cy="762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75556" cy="76200"/>
            </a:xfrm>
            <a:custGeom>
              <a:avLst/>
              <a:gdLst/>
              <a:ahLst/>
              <a:cxnLst/>
              <a:rect r="r" b="b" t="t" l="l"/>
              <a:pathLst>
                <a:path h="76200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38646" y="1302134"/>
            <a:ext cx="13543845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Database follows Third Normal Form (3NF)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569578" y="1715843"/>
            <a:ext cx="7275166" cy="7549696"/>
            <a:chOff x="0" y="0"/>
            <a:chExt cx="9700222" cy="100662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00133" cy="10066274"/>
            </a:xfrm>
            <a:custGeom>
              <a:avLst/>
              <a:gdLst/>
              <a:ahLst/>
              <a:cxnLst/>
              <a:rect r="r" b="b" t="t" l="l"/>
              <a:pathLst>
                <a:path h="10066274" w="9700133">
                  <a:moveTo>
                    <a:pt x="0" y="290957"/>
                  </a:moveTo>
                  <a:cubicBezTo>
                    <a:pt x="0" y="130302"/>
                    <a:pt x="130302" y="0"/>
                    <a:pt x="290957" y="0"/>
                  </a:cubicBezTo>
                  <a:lnTo>
                    <a:pt x="9409176" y="0"/>
                  </a:lnTo>
                  <a:cubicBezTo>
                    <a:pt x="9569831" y="0"/>
                    <a:pt x="9700133" y="130302"/>
                    <a:pt x="9700133" y="290957"/>
                  </a:cubicBezTo>
                  <a:lnTo>
                    <a:pt x="9700133" y="9775317"/>
                  </a:lnTo>
                  <a:cubicBezTo>
                    <a:pt x="9700133" y="9935973"/>
                    <a:pt x="9569831" y="10066274"/>
                    <a:pt x="9409176" y="10066274"/>
                  </a:cubicBezTo>
                  <a:lnTo>
                    <a:pt x="290957" y="10066274"/>
                  </a:lnTo>
                  <a:cubicBezTo>
                    <a:pt x="130302" y="10066274"/>
                    <a:pt x="0" y="9935972"/>
                    <a:pt x="0" y="9775317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844108" y="7892863"/>
            <a:ext cx="6726098" cy="549069"/>
            <a:chOff x="0" y="0"/>
            <a:chExt cx="8968130" cy="7320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68105" cy="732028"/>
            </a:xfrm>
            <a:custGeom>
              <a:avLst/>
              <a:gdLst/>
              <a:ahLst/>
              <a:cxnLst/>
              <a:rect r="r" b="b" t="t" l="l"/>
              <a:pathLst>
                <a:path h="732028" w="8968105">
                  <a:moveTo>
                    <a:pt x="0" y="58547"/>
                  </a:moveTo>
                  <a:cubicBezTo>
                    <a:pt x="0" y="26162"/>
                    <a:pt x="26162" y="0"/>
                    <a:pt x="58547" y="0"/>
                  </a:cubicBezTo>
                  <a:lnTo>
                    <a:pt x="8909558" y="0"/>
                  </a:lnTo>
                  <a:cubicBezTo>
                    <a:pt x="8941943" y="0"/>
                    <a:pt x="8968105" y="26162"/>
                    <a:pt x="8968105" y="58547"/>
                  </a:cubicBezTo>
                  <a:lnTo>
                    <a:pt x="8968105" y="673481"/>
                  </a:lnTo>
                  <a:cubicBezTo>
                    <a:pt x="8968105" y="705866"/>
                    <a:pt x="8941943" y="732028"/>
                    <a:pt x="8909558" y="732028"/>
                  </a:cubicBezTo>
                  <a:lnTo>
                    <a:pt x="58547" y="732028"/>
                  </a:lnTo>
                  <a:cubicBezTo>
                    <a:pt x="26162" y="732155"/>
                    <a:pt x="0" y="705866"/>
                    <a:pt x="0" y="673481"/>
                  </a:cubicBezTo>
                  <a:close/>
                </a:path>
              </a:pathLst>
            </a:custGeom>
            <a:solidFill>
              <a:srgbClr val="0D3B50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1783166"/>
            <a:ext cx="8472988" cy="8134069"/>
          </a:xfrm>
          <a:custGeom>
            <a:avLst/>
            <a:gdLst/>
            <a:ahLst/>
            <a:cxnLst/>
            <a:rect r="r" b="b" t="t" l="l"/>
            <a:pathLst>
              <a:path h="8134069" w="8472988">
                <a:moveTo>
                  <a:pt x="0" y="0"/>
                </a:moveTo>
                <a:lnTo>
                  <a:pt x="8472988" y="0"/>
                </a:lnTo>
                <a:lnTo>
                  <a:pt x="8472988" y="8134069"/>
                </a:lnTo>
                <a:lnTo>
                  <a:pt x="0" y="8134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40509" y="363398"/>
            <a:ext cx="6407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38646" y="293637"/>
            <a:ext cx="13543845" cy="75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Entity Relationship Diagram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35548" y="1910315"/>
            <a:ext cx="6680483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🔗  Key Entities &amp; Relationships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35548" y="2747424"/>
            <a:ext cx="6680483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▸ User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64262" y="3138949"/>
            <a:ext cx="64059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With</a:t>
            </a: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 phone, name, and role.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35548" y="3481849"/>
            <a:ext cx="6680483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3498D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▸ Contact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64262" y="3857870"/>
            <a:ext cx="64059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C</a:t>
            </a: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ustomer or supplier with auto-calculated balance.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47454" y="4200770"/>
            <a:ext cx="6680483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▸ Transaction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64262" y="4525620"/>
            <a:ext cx="64059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supporting </a:t>
            </a: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7 types including sale, purchase, and expense.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35548" y="4894850"/>
            <a:ext cx="6680483" cy="2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8E44A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▸ Product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64262" y="5237450"/>
            <a:ext cx="6405944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SKU, barcode, stock tracking, low-stock alerts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35548" y="5605491"/>
            <a:ext cx="1713161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E74C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▸ OTP Verification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64262" y="5948391"/>
            <a:ext cx="64059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User verification for security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35548" y="7951194"/>
            <a:ext cx="6543218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✅ 3NF  •  UUID PKs  •  Soft Delete  •  Sync-ready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35548" y="8596351"/>
            <a:ext cx="54800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Key: User→Contact (1:N), User→Transaction (1:N), Contact→Transaction (1:N)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35548" y="8870880"/>
            <a:ext cx="468496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Transaction→Items (1:N), Product→Items (1:N), User→Wallet (1:1)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24161" y="9684639"/>
            <a:ext cx="3935139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by: Shazid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935548" y="6310341"/>
            <a:ext cx="186124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3498D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▸ Transaction Items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164262" y="6653241"/>
            <a:ext cx="64059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Products, Quantity &amp; Price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47454" y="7017729"/>
            <a:ext cx="184933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3498D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▸ Stock Adjustment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164262" y="7402811"/>
            <a:ext cx="64059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Adjust product quantity after sale or purchase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343167"/>
            <a:ext cx="823608" cy="823608"/>
            <a:chOff x="0" y="0"/>
            <a:chExt cx="1098144" cy="1098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33450" y="0"/>
                  </a:lnTo>
                  <a:cubicBezTo>
                    <a:pt x="1024382" y="0"/>
                    <a:pt x="1098169" y="73787"/>
                    <a:pt x="1098169" y="164719"/>
                  </a:cubicBezTo>
                  <a:lnTo>
                    <a:pt x="1098169" y="933450"/>
                  </a:lnTo>
                  <a:cubicBezTo>
                    <a:pt x="1098169" y="1024382"/>
                    <a:pt x="1024382" y="1098169"/>
                    <a:pt x="933450" y="1098169"/>
                  </a:cubicBezTo>
                  <a:lnTo>
                    <a:pt x="164719" y="1098169"/>
                  </a:lnTo>
                  <a:cubicBezTo>
                    <a:pt x="73787" y="1098169"/>
                    <a:pt x="0" y="1024382"/>
                    <a:pt x="0" y="93345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7206" y="1194225"/>
            <a:ext cx="3431677" cy="57198"/>
            <a:chOff x="0" y="0"/>
            <a:chExt cx="4575569" cy="762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75556" cy="76200"/>
            </a:xfrm>
            <a:custGeom>
              <a:avLst/>
              <a:gdLst/>
              <a:ahLst/>
              <a:cxnLst/>
              <a:rect r="r" b="b" t="t" l="l"/>
              <a:pathLst>
                <a:path h="76200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569578" y="1715843"/>
            <a:ext cx="7275166" cy="7549696"/>
            <a:chOff x="0" y="0"/>
            <a:chExt cx="9700222" cy="100662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00133" cy="10066274"/>
            </a:xfrm>
            <a:custGeom>
              <a:avLst/>
              <a:gdLst/>
              <a:ahLst/>
              <a:cxnLst/>
              <a:rect r="r" b="b" t="t" l="l"/>
              <a:pathLst>
                <a:path h="10066274" w="9700133">
                  <a:moveTo>
                    <a:pt x="0" y="290957"/>
                  </a:moveTo>
                  <a:cubicBezTo>
                    <a:pt x="0" y="130302"/>
                    <a:pt x="130302" y="0"/>
                    <a:pt x="290957" y="0"/>
                  </a:cubicBezTo>
                  <a:lnTo>
                    <a:pt x="9409176" y="0"/>
                  </a:lnTo>
                  <a:cubicBezTo>
                    <a:pt x="9569831" y="0"/>
                    <a:pt x="9700133" y="130302"/>
                    <a:pt x="9700133" y="290957"/>
                  </a:cubicBezTo>
                  <a:lnTo>
                    <a:pt x="9700133" y="9775317"/>
                  </a:lnTo>
                  <a:cubicBezTo>
                    <a:pt x="9700133" y="9935973"/>
                    <a:pt x="9569831" y="10066274"/>
                    <a:pt x="9409176" y="10066274"/>
                  </a:cubicBezTo>
                  <a:lnTo>
                    <a:pt x="290957" y="10066274"/>
                  </a:lnTo>
                  <a:cubicBezTo>
                    <a:pt x="130302" y="10066274"/>
                    <a:pt x="0" y="9935972"/>
                    <a:pt x="0" y="9775317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844108" y="7892863"/>
            <a:ext cx="6726098" cy="549069"/>
            <a:chOff x="0" y="0"/>
            <a:chExt cx="8968130" cy="7320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968105" cy="732028"/>
            </a:xfrm>
            <a:custGeom>
              <a:avLst/>
              <a:gdLst/>
              <a:ahLst/>
              <a:cxnLst/>
              <a:rect r="r" b="b" t="t" l="l"/>
              <a:pathLst>
                <a:path h="732028" w="8968105">
                  <a:moveTo>
                    <a:pt x="0" y="58547"/>
                  </a:moveTo>
                  <a:cubicBezTo>
                    <a:pt x="0" y="26162"/>
                    <a:pt x="26162" y="0"/>
                    <a:pt x="58547" y="0"/>
                  </a:cubicBezTo>
                  <a:lnTo>
                    <a:pt x="8909558" y="0"/>
                  </a:lnTo>
                  <a:cubicBezTo>
                    <a:pt x="8941943" y="0"/>
                    <a:pt x="8968105" y="26162"/>
                    <a:pt x="8968105" y="58547"/>
                  </a:cubicBezTo>
                  <a:lnTo>
                    <a:pt x="8968105" y="673481"/>
                  </a:lnTo>
                  <a:cubicBezTo>
                    <a:pt x="8968105" y="705866"/>
                    <a:pt x="8941943" y="732028"/>
                    <a:pt x="8909558" y="732028"/>
                  </a:cubicBezTo>
                  <a:lnTo>
                    <a:pt x="58547" y="732028"/>
                  </a:lnTo>
                  <a:cubicBezTo>
                    <a:pt x="26162" y="732155"/>
                    <a:pt x="0" y="705866"/>
                    <a:pt x="0" y="673481"/>
                  </a:cubicBezTo>
                  <a:close/>
                </a:path>
              </a:pathLst>
            </a:custGeom>
            <a:solidFill>
              <a:srgbClr val="0D3B50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792286" y="1815690"/>
            <a:ext cx="7771324" cy="7655801"/>
          </a:xfrm>
          <a:custGeom>
            <a:avLst/>
            <a:gdLst/>
            <a:ahLst/>
            <a:cxnLst/>
            <a:rect r="r" b="b" t="t" l="l"/>
            <a:pathLst>
              <a:path h="7655801" w="7771324">
                <a:moveTo>
                  <a:pt x="0" y="0"/>
                </a:moveTo>
                <a:lnTo>
                  <a:pt x="7771324" y="0"/>
                </a:lnTo>
                <a:lnTo>
                  <a:pt x="7771324" y="7655802"/>
                </a:lnTo>
                <a:lnTo>
                  <a:pt x="0" y="7655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32" r="0" b="-753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175013" y="2397488"/>
            <a:ext cx="5005869" cy="6227438"/>
          </a:xfrm>
          <a:custGeom>
            <a:avLst/>
            <a:gdLst/>
            <a:ahLst/>
            <a:cxnLst/>
            <a:rect r="r" b="b" t="t" l="l"/>
            <a:pathLst>
              <a:path h="6227438" w="5005869">
                <a:moveTo>
                  <a:pt x="0" y="0"/>
                </a:moveTo>
                <a:lnTo>
                  <a:pt x="5005869" y="0"/>
                </a:lnTo>
                <a:lnTo>
                  <a:pt x="5005869" y="6227438"/>
                </a:lnTo>
                <a:lnTo>
                  <a:pt x="0" y="62274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40509" y="363398"/>
            <a:ext cx="6407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38646" y="293637"/>
            <a:ext cx="393930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Activity</a:t>
            </a: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Diagram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64262" y="2340338"/>
            <a:ext cx="668048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🔗  Multilingual Interface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63817" y="3378013"/>
            <a:ext cx="5895483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924" indent="-194462" lvl="1">
              <a:lnSpc>
                <a:spcPts val="2161"/>
              </a:lnSpc>
              <a:buFont typeface="Arial"/>
              <a:buChar char="•"/>
            </a:pPr>
            <a:r>
              <a:rPr lang="en-US" b="true" sz="1801">
                <a:solidFill>
                  <a:srgbClr val="BDBDB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Dual-Language Support: Seamlessly switch between Bengali (BN) and English (EN) interfaces at any time.</a:t>
            </a:r>
          </a:p>
          <a:p>
            <a:pPr algn="l">
              <a:lnSpc>
                <a:spcPts val="2161"/>
              </a:lnSpc>
            </a:pPr>
          </a:p>
          <a:p>
            <a:pPr algn="l" marL="388924" indent="-194462" lvl="1">
              <a:lnSpc>
                <a:spcPts val="2161"/>
              </a:lnSpc>
              <a:buFont typeface="Arial"/>
              <a:buChar char="•"/>
            </a:pPr>
            <a:r>
              <a:rPr lang="en-US" b="true" sz="1801">
                <a:solidFill>
                  <a:srgbClr val="BDBDB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Instant Toggle: Verified instant language switching for immediate system display updates.</a:t>
            </a:r>
          </a:p>
          <a:p>
            <a:pPr algn="l">
              <a:lnSpc>
                <a:spcPts val="2161"/>
              </a:lnSpc>
            </a:pPr>
          </a:p>
          <a:p>
            <a:pPr algn="l" marL="388924" indent="-194462" lvl="1">
              <a:lnSpc>
                <a:spcPts val="2161"/>
              </a:lnSpc>
              <a:buFont typeface="Arial"/>
              <a:buChar char="•"/>
            </a:pPr>
            <a:r>
              <a:rPr lang="en-US" b="true" sz="1801">
                <a:solidFill>
                  <a:srgbClr val="BDBDB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Inclusive Accessibility: Native Bengali UI designed with 48dp touch targets to ensure usability for all merchants.</a:t>
            </a:r>
          </a:p>
          <a:p>
            <a:pPr algn="l">
              <a:lnSpc>
                <a:spcPts val="2161"/>
              </a:lnSpc>
            </a:pPr>
          </a:p>
          <a:p>
            <a:pPr algn="l" marL="388924" indent="-194462" lvl="1">
              <a:lnSpc>
                <a:spcPts val="2161"/>
              </a:lnSpc>
              <a:buFont typeface="Arial"/>
              <a:buChar char="•"/>
            </a:pPr>
            <a:r>
              <a:rPr lang="en-US" b="true" sz="1801">
                <a:solidFill>
                  <a:srgbClr val="BDBDB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Consistent Experience: Language selection persists across registration, dashboards, and reporting</a:t>
            </a:r>
          </a:p>
          <a:p>
            <a:pPr algn="l">
              <a:lnSpc>
                <a:spcPts val="2161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3324161" y="9684639"/>
            <a:ext cx="3935139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by: Shazid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343167"/>
            <a:ext cx="823608" cy="823608"/>
            <a:chOff x="0" y="0"/>
            <a:chExt cx="1098144" cy="1098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33450" y="0"/>
                  </a:lnTo>
                  <a:cubicBezTo>
                    <a:pt x="1024382" y="0"/>
                    <a:pt x="1098169" y="73787"/>
                    <a:pt x="1098169" y="164719"/>
                  </a:cubicBezTo>
                  <a:lnTo>
                    <a:pt x="1098169" y="933450"/>
                  </a:lnTo>
                  <a:cubicBezTo>
                    <a:pt x="1098169" y="1024382"/>
                    <a:pt x="1024382" y="1098169"/>
                    <a:pt x="933450" y="1098169"/>
                  </a:cubicBezTo>
                  <a:lnTo>
                    <a:pt x="164719" y="1098169"/>
                  </a:lnTo>
                  <a:cubicBezTo>
                    <a:pt x="73787" y="1098169"/>
                    <a:pt x="0" y="1024382"/>
                    <a:pt x="0" y="93345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363398"/>
            <a:ext cx="6407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646" y="293637"/>
            <a:ext cx="13543845" cy="75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Quality Assurance &amp; Testing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47206" y="1194225"/>
            <a:ext cx="3431677" cy="57198"/>
            <a:chOff x="0" y="0"/>
            <a:chExt cx="457556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5556" cy="76200"/>
            </a:xfrm>
            <a:custGeom>
              <a:avLst/>
              <a:gdLst/>
              <a:ahLst/>
              <a:cxnLst/>
              <a:rect r="r" b="b" t="t" l="l"/>
              <a:pathLst>
                <a:path h="76200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38646" y="1302134"/>
            <a:ext cx="13543845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Comprehensive test strategy for reliable software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11804" y="1784471"/>
            <a:ext cx="4118019" cy="1853108"/>
            <a:chOff x="0" y="0"/>
            <a:chExt cx="5490693" cy="24708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90718" cy="2470785"/>
            </a:xfrm>
            <a:custGeom>
              <a:avLst/>
              <a:gdLst/>
              <a:ahLst/>
              <a:cxnLst/>
              <a:rect r="r" b="b" t="t" l="l"/>
              <a:pathLst>
                <a:path h="2470785" w="5490718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5391912" y="0"/>
                  </a:lnTo>
                  <a:cubicBezTo>
                    <a:pt x="5446522" y="0"/>
                    <a:pt x="5490718" y="44196"/>
                    <a:pt x="5490718" y="98806"/>
                  </a:cubicBezTo>
                  <a:lnTo>
                    <a:pt x="5490718" y="2371979"/>
                  </a:lnTo>
                  <a:cubicBezTo>
                    <a:pt x="5490718" y="2426589"/>
                    <a:pt x="5446522" y="2470785"/>
                    <a:pt x="5391912" y="2470785"/>
                  </a:cubicBezTo>
                  <a:lnTo>
                    <a:pt x="98806" y="2470785"/>
                  </a:lnTo>
                  <a:cubicBezTo>
                    <a:pt x="44196" y="2470785"/>
                    <a:pt x="0" y="2426589"/>
                    <a:pt x="0" y="2371979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11804" y="1784471"/>
            <a:ext cx="4118019" cy="57198"/>
            <a:chOff x="0" y="0"/>
            <a:chExt cx="5490693" cy="762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90718" cy="76200"/>
            </a:xfrm>
            <a:custGeom>
              <a:avLst/>
              <a:gdLst/>
              <a:ahLst/>
              <a:cxnLst/>
              <a:rect r="r" b="b" t="t" l="l"/>
              <a:pathLst>
                <a:path h="76200" w="5490718">
                  <a:moveTo>
                    <a:pt x="0" y="0"/>
                  </a:moveTo>
                  <a:lnTo>
                    <a:pt x="5490718" y="0"/>
                  </a:lnTo>
                  <a:lnTo>
                    <a:pt x="54907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03244" y="1892379"/>
            <a:ext cx="3935139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🧪 Functional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1871" y="2378145"/>
            <a:ext cx="3797875" cy="898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8 test cases covering</a:t>
            </a:r>
          </a:p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all core features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804353" y="1784471"/>
            <a:ext cx="4118019" cy="1853108"/>
            <a:chOff x="0" y="0"/>
            <a:chExt cx="5490693" cy="24708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90718" cy="2470785"/>
            </a:xfrm>
            <a:custGeom>
              <a:avLst/>
              <a:gdLst/>
              <a:ahLst/>
              <a:cxnLst/>
              <a:rect r="r" b="b" t="t" l="l"/>
              <a:pathLst>
                <a:path h="2470785" w="5490718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5391912" y="0"/>
                  </a:lnTo>
                  <a:cubicBezTo>
                    <a:pt x="5446522" y="0"/>
                    <a:pt x="5490718" y="44196"/>
                    <a:pt x="5490718" y="98806"/>
                  </a:cubicBezTo>
                  <a:lnTo>
                    <a:pt x="5490718" y="2371979"/>
                  </a:lnTo>
                  <a:cubicBezTo>
                    <a:pt x="5490718" y="2426589"/>
                    <a:pt x="5446522" y="2470785"/>
                    <a:pt x="5391912" y="2470785"/>
                  </a:cubicBezTo>
                  <a:lnTo>
                    <a:pt x="98806" y="2470785"/>
                  </a:lnTo>
                  <a:cubicBezTo>
                    <a:pt x="44196" y="2470785"/>
                    <a:pt x="0" y="2426589"/>
                    <a:pt x="0" y="2371979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804353" y="1784471"/>
            <a:ext cx="4118019" cy="57198"/>
            <a:chOff x="0" y="0"/>
            <a:chExt cx="5490693" cy="762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90718" cy="76200"/>
            </a:xfrm>
            <a:custGeom>
              <a:avLst/>
              <a:gdLst/>
              <a:ahLst/>
              <a:cxnLst/>
              <a:rect r="r" b="b" t="t" l="l"/>
              <a:pathLst>
                <a:path h="76200" w="5490718">
                  <a:moveTo>
                    <a:pt x="0" y="0"/>
                  </a:moveTo>
                  <a:lnTo>
                    <a:pt x="5490718" y="0"/>
                  </a:lnTo>
                  <a:lnTo>
                    <a:pt x="54907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895793" y="1892379"/>
            <a:ext cx="3935139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E74C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🔒 Security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64430" y="2378145"/>
            <a:ext cx="3797875" cy="898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JWT, OTP rate limiting</a:t>
            </a:r>
          </a:p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HTTPS encryption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96902" y="1784471"/>
            <a:ext cx="4118019" cy="1853108"/>
            <a:chOff x="0" y="0"/>
            <a:chExt cx="5490693" cy="24708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90718" cy="2470785"/>
            </a:xfrm>
            <a:custGeom>
              <a:avLst/>
              <a:gdLst/>
              <a:ahLst/>
              <a:cxnLst/>
              <a:rect r="r" b="b" t="t" l="l"/>
              <a:pathLst>
                <a:path h="2470785" w="5490718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5391912" y="0"/>
                  </a:lnTo>
                  <a:cubicBezTo>
                    <a:pt x="5446522" y="0"/>
                    <a:pt x="5490718" y="44196"/>
                    <a:pt x="5490718" y="98806"/>
                  </a:cubicBezTo>
                  <a:lnTo>
                    <a:pt x="5490718" y="2371979"/>
                  </a:lnTo>
                  <a:cubicBezTo>
                    <a:pt x="5490718" y="2426589"/>
                    <a:pt x="5446522" y="2470785"/>
                    <a:pt x="5391912" y="2470785"/>
                  </a:cubicBezTo>
                  <a:lnTo>
                    <a:pt x="98806" y="2470785"/>
                  </a:lnTo>
                  <a:cubicBezTo>
                    <a:pt x="44196" y="2470785"/>
                    <a:pt x="0" y="2426589"/>
                    <a:pt x="0" y="2371979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96902" y="1784471"/>
            <a:ext cx="4118019" cy="57198"/>
            <a:chOff x="0" y="0"/>
            <a:chExt cx="5490693" cy="762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90718" cy="76200"/>
            </a:xfrm>
            <a:custGeom>
              <a:avLst/>
              <a:gdLst/>
              <a:ahLst/>
              <a:cxnLst/>
              <a:rect r="r" b="b" t="t" l="l"/>
              <a:pathLst>
                <a:path h="76200" w="5490718">
                  <a:moveTo>
                    <a:pt x="0" y="0"/>
                  </a:moveTo>
                  <a:lnTo>
                    <a:pt x="5490718" y="0"/>
                  </a:lnTo>
                  <a:lnTo>
                    <a:pt x="54907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288342" y="1892379"/>
            <a:ext cx="3935139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⚡ Performance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56979" y="2378145"/>
            <a:ext cx="3797875" cy="898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Dashboard &lt; 2s load</a:t>
            </a:r>
          </a:p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Transaction &lt; 1s save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589460" y="1784471"/>
            <a:ext cx="4118019" cy="1853108"/>
            <a:chOff x="0" y="0"/>
            <a:chExt cx="5490693" cy="24708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90718" cy="2470785"/>
            </a:xfrm>
            <a:custGeom>
              <a:avLst/>
              <a:gdLst/>
              <a:ahLst/>
              <a:cxnLst/>
              <a:rect r="r" b="b" t="t" l="l"/>
              <a:pathLst>
                <a:path h="2470785" w="5490718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5391912" y="0"/>
                  </a:lnTo>
                  <a:cubicBezTo>
                    <a:pt x="5446522" y="0"/>
                    <a:pt x="5490718" y="44196"/>
                    <a:pt x="5490718" y="98806"/>
                  </a:cubicBezTo>
                  <a:lnTo>
                    <a:pt x="5490718" y="2371979"/>
                  </a:lnTo>
                  <a:cubicBezTo>
                    <a:pt x="5490718" y="2426589"/>
                    <a:pt x="5446522" y="2470785"/>
                    <a:pt x="5391912" y="2470785"/>
                  </a:cubicBezTo>
                  <a:lnTo>
                    <a:pt x="98806" y="2470785"/>
                  </a:lnTo>
                  <a:cubicBezTo>
                    <a:pt x="44196" y="2470785"/>
                    <a:pt x="0" y="2426589"/>
                    <a:pt x="0" y="2371979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589460" y="1784471"/>
            <a:ext cx="4118019" cy="57198"/>
            <a:chOff x="0" y="0"/>
            <a:chExt cx="5490693" cy="762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90718" cy="76200"/>
            </a:xfrm>
            <a:custGeom>
              <a:avLst/>
              <a:gdLst/>
              <a:ahLst/>
              <a:cxnLst/>
              <a:rect r="r" b="b" t="t" l="l"/>
              <a:pathLst>
                <a:path h="76200" w="5490718">
                  <a:moveTo>
                    <a:pt x="0" y="0"/>
                  </a:moveTo>
                  <a:lnTo>
                    <a:pt x="5490718" y="0"/>
                  </a:lnTo>
                  <a:lnTo>
                    <a:pt x="54907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3680900" y="1892379"/>
            <a:ext cx="3935139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📱 Usability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49528" y="2378145"/>
            <a:ext cx="3797875" cy="898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Bengali UI, 48dp touch</a:t>
            </a:r>
          </a:p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targets, accessibility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40509" y="3910213"/>
            <a:ext cx="6680483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📋  Test Cases</a:t>
            </a:r>
          </a:p>
        </p:txBody>
      </p:sp>
      <p:graphicFrame>
        <p:nvGraphicFramePr>
          <p:cNvPr name="Table 34" id="34"/>
          <p:cNvGraphicFramePr>
            <a:graphicFrameLocks noGrp="true"/>
          </p:cNvGraphicFramePr>
          <p:nvPr/>
        </p:nvGraphicFramePr>
        <p:xfrm>
          <a:off x="549069" y="4392552"/>
          <a:ext cx="17158405" cy="4804353"/>
        </p:xfrm>
        <a:graphic>
          <a:graphicData uri="http://schemas.openxmlformats.org/drawingml/2006/table">
            <a:tbl>
              <a:tblPr/>
              <a:tblGrid>
                <a:gridCol w="5719468"/>
                <a:gridCol w="5719468"/>
                <a:gridCol w="5719468"/>
              </a:tblGrid>
              <a:tr h="5338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 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 Scenario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Result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5338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TC-AUTH-01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OTP login with valid phone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Pass 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</a:tr>
              <a:tr h="5338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TC-AUTH-02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Language toggle EN ↔ BN instantly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Pass 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</a:tr>
              <a:tr h="5338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TC-TXN-01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Record ৳500 sale with contact link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Pass 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</a:tr>
              <a:tr h="5338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TC-CON-01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Contact balance auto-update on sale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Pass 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</a:tr>
              <a:tr h="5338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TC-INV-01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Stock auto-decrease on sale (10→7)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Pass 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</a:tr>
              <a:tr h="5338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TC-SYNC-01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Offline sale → auto-sync when online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Pass 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</a:tr>
              <a:tr h="5338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VAL-01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Reject negative transaction amount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Pass 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48"/>
                    </a:solidFill>
                  </a:tcPr>
                </a:tc>
              </a:tr>
              <a:tr h="5338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VAL-02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Invalid phone format rejection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>
                          <a:solidFill>
                            <a:srgbClr val="BDBDB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Pass 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</a:tr>
            </a:tbl>
          </a:graphicData>
        </a:graphic>
      </p:graphicFrame>
      <p:sp>
        <p:nvSpPr>
          <p:cNvPr name="TextBox 35" id="35"/>
          <p:cNvSpPr txBox="true"/>
          <p:nvPr/>
        </p:nvSpPr>
        <p:spPr>
          <a:xfrm rot="0">
            <a:off x="503244" y="9684963"/>
            <a:ext cx="3935139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by: Shazid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343167"/>
            <a:ext cx="823608" cy="823608"/>
            <a:chOff x="0" y="0"/>
            <a:chExt cx="1098144" cy="1098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33450" y="0"/>
                  </a:lnTo>
                  <a:cubicBezTo>
                    <a:pt x="1024382" y="0"/>
                    <a:pt x="1098169" y="73787"/>
                    <a:pt x="1098169" y="164719"/>
                  </a:cubicBezTo>
                  <a:lnTo>
                    <a:pt x="1098169" y="933450"/>
                  </a:lnTo>
                  <a:cubicBezTo>
                    <a:pt x="1098169" y="1024382"/>
                    <a:pt x="1024382" y="1098169"/>
                    <a:pt x="933450" y="1098169"/>
                  </a:cubicBezTo>
                  <a:lnTo>
                    <a:pt x="164719" y="1098169"/>
                  </a:lnTo>
                  <a:cubicBezTo>
                    <a:pt x="73787" y="1098169"/>
                    <a:pt x="0" y="1024382"/>
                    <a:pt x="0" y="93345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363398"/>
            <a:ext cx="6407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646" y="293637"/>
            <a:ext cx="13543845" cy="75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Challenges &amp; Solutions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47206" y="1194225"/>
            <a:ext cx="3431677" cy="57198"/>
            <a:chOff x="0" y="0"/>
            <a:chExt cx="457556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5556" cy="76200"/>
            </a:xfrm>
            <a:custGeom>
              <a:avLst/>
              <a:gdLst/>
              <a:ahLst/>
              <a:cxnLst/>
              <a:rect r="r" b="b" t="t" l="l"/>
              <a:pathLst>
                <a:path h="76200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38646" y="1302134"/>
            <a:ext cx="13543845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Key engineering problems we solved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11804" y="1784471"/>
            <a:ext cx="17432941" cy="1372676"/>
            <a:chOff x="0" y="0"/>
            <a:chExt cx="23243921" cy="18302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243794" cy="1830197"/>
            </a:xfrm>
            <a:custGeom>
              <a:avLst/>
              <a:gdLst/>
              <a:ahLst/>
              <a:cxnLst/>
              <a:rect r="r" b="b" t="t" l="l"/>
              <a:pathLst>
                <a:path h="1830197" w="2324379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23170642" y="0"/>
                  </a:lnTo>
                  <a:cubicBezTo>
                    <a:pt x="23211028" y="0"/>
                    <a:pt x="23243794" y="32766"/>
                    <a:pt x="23243794" y="73152"/>
                  </a:cubicBezTo>
                  <a:lnTo>
                    <a:pt x="23243794" y="1757045"/>
                  </a:lnTo>
                  <a:cubicBezTo>
                    <a:pt x="23243794" y="1797431"/>
                    <a:pt x="23211028" y="1830197"/>
                    <a:pt x="23170642" y="1830197"/>
                  </a:cubicBezTo>
                  <a:lnTo>
                    <a:pt x="73152" y="1830197"/>
                  </a:lnTo>
                  <a:cubicBezTo>
                    <a:pt x="32766" y="1830197"/>
                    <a:pt x="0" y="1797431"/>
                    <a:pt x="0" y="1757045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11804" y="1784471"/>
            <a:ext cx="95326" cy="1372676"/>
            <a:chOff x="0" y="0"/>
            <a:chExt cx="127102" cy="1830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127" cy="1830197"/>
            </a:xfrm>
            <a:custGeom>
              <a:avLst/>
              <a:gdLst/>
              <a:ahLst/>
              <a:cxnLst/>
              <a:rect r="r" b="b" t="t" l="l"/>
              <a:pathLst>
                <a:path h="1830197" w="127127">
                  <a:moveTo>
                    <a:pt x="0" y="0"/>
                  </a:moveTo>
                  <a:lnTo>
                    <a:pt x="127127" y="0"/>
                  </a:lnTo>
                  <a:lnTo>
                    <a:pt x="127127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15048" y="1851203"/>
            <a:ext cx="8053159" cy="29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🔄  Offline-to-Online Sync Conflicts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5048" y="2245081"/>
            <a:ext cx="7366816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Challenge: Multiple offline edits conflict when syncing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5048" y="2625223"/>
            <a:ext cx="16563727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✅ Solution: Last-write-wins with UUID conflict resolution + retry queue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11804" y="3294412"/>
            <a:ext cx="17432941" cy="1372676"/>
            <a:chOff x="0" y="0"/>
            <a:chExt cx="23243921" cy="18302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243794" cy="1830197"/>
            </a:xfrm>
            <a:custGeom>
              <a:avLst/>
              <a:gdLst/>
              <a:ahLst/>
              <a:cxnLst/>
              <a:rect r="r" b="b" t="t" l="l"/>
              <a:pathLst>
                <a:path h="1830197" w="2324379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23170642" y="0"/>
                  </a:lnTo>
                  <a:cubicBezTo>
                    <a:pt x="23211028" y="0"/>
                    <a:pt x="23243794" y="32766"/>
                    <a:pt x="23243794" y="73152"/>
                  </a:cubicBezTo>
                  <a:lnTo>
                    <a:pt x="23243794" y="1757045"/>
                  </a:lnTo>
                  <a:cubicBezTo>
                    <a:pt x="23243794" y="1797431"/>
                    <a:pt x="23211028" y="1830197"/>
                    <a:pt x="23170642" y="1830197"/>
                  </a:cubicBezTo>
                  <a:lnTo>
                    <a:pt x="73152" y="1830197"/>
                  </a:lnTo>
                  <a:cubicBezTo>
                    <a:pt x="32766" y="1830197"/>
                    <a:pt x="0" y="1797431"/>
                    <a:pt x="0" y="1757045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11804" y="3294412"/>
            <a:ext cx="95326" cy="1372676"/>
            <a:chOff x="0" y="0"/>
            <a:chExt cx="127102" cy="1830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7127" cy="1830197"/>
            </a:xfrm>
            <a:custGeom>
              <a:avLst/>
              <a:gdLst/>
              <a:ahLst/>
              <a:cxnLst/>
              <a:rect r="r" b="b" t="t" l="l"/>
              <a:pathLst>
                <a:path h="1830197" w="127127">
                  <a:moveTo>
                    <a:pt x="0" y="0"/>
                  </a:moveTo>
                  <a:lnTo>
                    <a:pt x="127127" y="0"/>
                  </a:lnTo>
                  <a:lnTo>
                    <a:pt x="127127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15048" y="3361144"/>
            <a:ext cx="8053159" cy="29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🌐  Bangla-first i18n with Live Switching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5048" y="3755012"/>
            <a:ext cx="7366816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Challenge: Bengali rendering + toggle without app restart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5048" y="4135164"/>
            <a:ext cx="16563727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✅ Solution: i18next + Zustand reactivity triggers instant re-render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11804" y="4804353"/>
            <a:ext cx="17432941" cy="1372676"/>
            <a:chOff x="0" y="0"/>
            <a:chExt cx="23243921" cy="183023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243794" cy="1830197"/>
            </a:xfrm>
            <a:custGeom>
              <a:avLst/>
              <a:gdLst/>
              <a:ahLst/>
              <a:cxnLst/>
              <a:rect r="r" b="b" t="t" l="l"/>
              <a:pathLst>
                <a:path h="1830197" w="2324379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23170642" y="0"/>
                  </a:lnTo>
                  <a:cubicBezTo>
                    <a:pt x="23211028" y="0"/>
                    <a:pt x="23243794" y="32766"/>
                    <a:pt x="23243794" y="73152"/>
                  </a:cubicBezTo>
                  <a:lnTo>
                    <a:pt x="23243794" y="1757045"/>
                  </a:lnTo>
                  <a:cubicBezTo>
                    <a:pt x="23243794" y="1797431"/>
                    <a:pt x="23211028" y="1830197"/>
                    <a:pt x="23170642" y="1830197"/>
                  </a:cubicBezTo>
                  <a:lnTo>
                    <a:pt x="73152" y="1830197"/>
                  </a:lnTo>
                  <a:cubicBezTo>
                    <a:pt x="32766" y="1830197"/>
                    <a:pt x="0" y="1797431"/>
                    <a:pt x="0" y="1757045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11804" y="4804353"/>
            <a:ext cx="95326" cy="1372676"/>
            <a:chOff x="0" y="0"/>
            <a:chExt cx="127102" cy="183023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7127" cy="1830197"/>
            </a:xfrm>
            <a:custGeom>
              <a:avLst/>
              <a:gdLst/>
              <a:ahLst/>
              <a:cxnLst/>
              <a:rect r="r" b="b" t="t" l="l"/>
              <a:pathLst>
                <a:path h="1830197" w="127127">
                  <a:moveTo>
                    <a:pt x="0" y="0"/>
                  </a:moveTo>
                  <a:lnTo>
                    <a:pt x="127127" y="0"/>
                  </a:lnTo>
                  <a:lnTo>
                    <a:pt x="127127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15048" y="4871085"/>
            <a:ext cx="8053159" cy="29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⚡  Performance on Low-end Devices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5048" y="5264953"/>
            <a:ext cx="7366816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Challenge: Budget Android phones (2GB RAM) must run smoothly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5048" y="5645106"/>
            <a:ext cx="16563727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✅ Solution: FlatList lazy loading, Zustand partialize, memoized summaries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11804" y="6314294"/>
            <a:ext cx="17432941" cy="1372676"/>
            <a:chOff x="0" y="0"/>
            <a:chExt cx="23243921" cy="183023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243794" cy="1830197"/>
            </a:xfrm>
            <a:custGeom>
              <a:avLst/>
              <a:gdLst/>
              <a:ahLst/>
              <a:cxnLst/>
              <a:rect r="r" b="b" t="t" l="l"/>
              <a:pathLst>
                <a:path h="1830197" w="2324379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23170642" y="0"/>
                  </a:lnTo>
                  <a:cubicBezTo>
                    <a:pt x="23211028" y="0"/>
                    <a:pt x="23243794" y="32766"/>
                    <a:pt x="23243794" y="73152"/>
                  </a:cubicBezTo>
                  <a:lnTo>
                    <a:pt x="23243794" y="1757045"/>
                  </a:lnTo>
                  <a:cubicBezTo>
                    <a:pt x="23243794" y="1797431"/>
                    <a:pt x="23211028" y="1830197"/>
                    <a:pt x="23170642" y="1830197"/>
                  </a:cubicBezTo>
                  <a:lnTo>
                    <a:pt x="73152" y="1830197"/>
                  </a:lnTo>
                  <a:cubicBezTo>
                    <a:pt x="32766" y="1830197"/>
                    <a:pt x="0" y="1797431"/>
                    <a:pt x="0" y="1757045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11804" y="6314294"/>
            <a:ext cx="95326" cy="1372676"/>
            <a:chOff x="0" y="0"/>
            <a:chExt cx="127102" cy="183023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7127" cy="1830197"/>
            </a:xfrm>
            <a:custGeom>
              <a:avLst/>
              <a:gdLst/>
              <a:ahLst/>
              <a:cxnLst/>
              <a:rect r="r" b="b" t="t" l="l"/>
              <a:pathLst>
                <a:path h="1830197" w="127127">
                  <a:moveTo>
                    <a:pt x="0" y="0"/>
                  </a:moveTo>
                  <a:lnTo>
                    <a:pt x="127127" y="0"/>
                  </a:lnTo>
                  <a:lnTo>
                    <a:pt x="127127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8E44AD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15048" y="6381026"/>
            <a:ext cx="8053159" cy="29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8E44A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🔐  Secure Offline Authentication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5048" y="6774894"/>
            <a:ext cx="7366816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Challenge: JWT tokens expire but users need offline access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15048" y="7155037"/>
            <a:ext cx="16563727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✅ Solution: Encrypted local credentials + 30-day refresh token auto-renew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411804" y="7824235"/>
            <a:ext cx="17432941" cy="1372676"/>
            <a:chOff x="0" y="0"/>
            <a:chExt cx="23243921" cy="183023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243794" cy="1830197"/>
            </a:xfrm>
            <a:custGeom>
              <a:avLst/>
              <a:gdLst/>
              <a:ahLst/>
              <a:cxnLst/>
              <a:rect r="r" b="b" t="t" l="l"/>
              <a:pathLst>
                <a:path h="1830197" w="2324379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23170642" y="0"/>
                  </a:lnTo>
                  <a:cubicBezTo>
                    <a:pt x="23211028" y="0"/>
                    <a:pt x="23243794" y="32766"/>
                    <a:pt x="23243794" y="73152"/>
                  </a:cubicBezTo>
                  <a:lnTo>
                    <a:pt x="23243794" y="1757045"/>
                  </a:lnTo>
                  <a:cubicBezTo>
                    <a:pt x="23243794" y="1797431"/>
                    <a:pt x="23211028" y="1830197"/>
                    <a:pt x="23170642" y="1830197"/>
                  </a:cubicBezTo>
                  <a:lnTo>
                    <a:pt x="73152" y="1830197"/>
                  </a:lnTo>
                  <a:cubicBezTo>
                    <a:pt x="32766" y="1830197"/>
                    <a:pt x="0" y="1797431"/>
                    <a:pt x="0" y="1757045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11804" y="7824235"/>
            <a:ext cx="95326" cy="1372676"/>
            <a:chOff x="0" y="0"/>
            <a:chExt cx="127102" cy="183023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7127" cy="1830197"/>
            </a:xfrm>
            <a:custGeom>
              <a:avLst/>
              <a:gdLst/>
              <a:ahLst/>
              <a:cxnLst/>
              <a:rect r="r" b="b" t="t" l="l"/>
              <a:pathLst>
                <a:path h="1830197" w="127127">
                  <a:moveTo>
                    <a:pt x="0" y="0"/>
                  </a:moveTo>
                  <a:lnTo>
                    <a:pt x="127127" y="0"/>
                  </a:lnTo>
                  <a:lnTo>
                    <a:pt x="127127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15048" y="7890958"/>
            <a:ext cx="8053159" cy="29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E74C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💰  Accurate Dues Calculation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5048" y="8284835"/>
            <a:ext cx="7366816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Challenge: Contact balances must stay correct across 7 txn types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15048" y="8664978"/>
            <a:ext cx="16563727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✅ Solution: Centralized update_balance() on every transaction mutation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03244" y="9684963"/>
            <a:ext cx="3935139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by: Masud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343167"/>
            <a:ext cx="823608" cy="823608"/>
            <a:chOff x="0" y="0"/>
            <a:chExt cx="1098144" cy="1098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33450" y="0"/>
                  </a:lnTo>
                  <a:cubicBezTo>
                    <a:pt x="1024382" y="0"/>
                    <a:pt x="1098169" y="73787"/>
                    <a:pt x="1098169" y="164719"/>
                  </a:cubicBezTo>
                  <a:lnTo>
                    <a:pt x="1098169" y="933450"/>
                  </a:lnTo>
                  <a:cubicBezTo>
                    <a:pt x="1098169" y="1024382"/>
                    <a:pt x="1024382" y="1098169"/>
                    <a:pt x="933450" y="1098169"/>
                  </a:cubicBezTo>
                  <a:lnTo>
                    <a:pt x="164719" y="1098169"/>
                  </a:lnTo>
                  <a:cubicBezTo>
                    <a:pt x="73787" y="1098169"/>
                    <a:pt x="0" y="1024382"/>
                    <a:pt x="0" y="93345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363398"/>
            <a:ext cx="6407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646" y="293637"/>
            <a:ext cx="13543845" cy="75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Responsibility Matrix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47206" y="1194225"/>
            <a:ext cx="3431677" cy="57198"/>
            <a:chOff x="0" y="0"/>
            <a:chExt cx="457556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5556" cy="76200"/>
            </a:xfrm>
            <a:custGeom>
              <a:avLst/>
              <a:gdLst/>
              <a:ahLst/>
              <a:cxnLst/>
              <a:rect r="r" b="b" t="t" l="l"/>
              <a:pathLst>
                <a:path h="76200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38646" y="1302134"/>
            <a:ext cx="13543845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Who built what — Individual contributions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74539" y="1784471"/>
            <a:ext cx="5627951" cy="7618333"/>
            <a:chOff x="0" y="0"/>
            <a:chExt cx="7503935" cy="101577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03922" cy="10157714"/>
            </a:xfrm>
            <a:custGeom>
              <a:avLst/>
              <a:gdLst/>
              <a:ahLst/>
              <a:cxnLst/>
              <a:rect r="r" b="b" t="t" l="l"/>
              <a:pathLst>
                <a:path h="10157714" w="7503922">
                  <a:moveTo>
                    <a:pt x="0" y="300101"/>
                  </a:moveTo>
                  <a:cubicBezTo>
                    <a:pt x="0" y="134366"/>
                    <a:pt x="134366" y="0"/>
                    <a:pt x="300101" y="0"/>
                  </a:cubicBezTo>
                  <a:lnTo>
                    <a:pt x="7203821" y="0"/>
                  </a:lnTo>
                  <a:cubicBezTo>
                    <a:pt x="7369556" y="0"/>
                    <a:pt x="7503922" y="134366"/>
                    <a:pt x="7503922" y="300101"/>
                  </a:cubicBezTo>
                  <a:lnTo>
                    <a:pt x="7503922" y="9857613"/>
                  </a:lnTo>
                  <a:cubicBezTo>
                    <a:pt x="7503922" y="10023348"/>
                    <a:pt x="7369556" y="10157714"/>
                    <a:pt x="7203821" y="10157714"/>
                  </a:cubicBezTo>
                  <a:lnTo>
                    <a:pt x="300101" y="10157714"/>
                  </a:lnTo>
                  <a:cubicBezTo>
                    <a:pt x="134366" y="10157714"/>
                    <a:pt x="0" y="10023348"/>
                    <a:pt x="0" y="9857613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4539" y="1784471"/>
            <a:ext cx="5627951" cy="95326"/>
            <a:chOff x="0" y="0"/>
            <a:chExt cx="7503935" cy="1271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03922" cy="127127"/>
            </a:xfrm>
            <a:custGeom>
              <a:avLst/>
              <a:gdLst/>
              <a:ahLst/>
              <a:cxnLst/>
              <a:rect r="r" b="b" t="t" l="l"/>
              <a:pathLst>
                <a:path h="127127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03244" y="1997993"/>
            <a:ext cx="5170541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👨‍💻  Sudipto Biswas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6411" y="2419321"/>
            <a:ext cx="4758738" cy="23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Lead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3244" y="2821600"/>
            <a:ext cx="5170541" cy="22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1871" y="3105655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Overall Architecture &amp; Design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1871" y="3366468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Django APIs &amp; Database Models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1871" y="3627272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Auth System (OTP + JWT)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1871" y="3888076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Offline Sync Engine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1871" y="4148890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RBAC Implementation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3244" y="4468806"/>
            <a:ext cx="5170541" cy="22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Files: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1871" y="4752861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📄 backend/apps/users/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1871" y="4999949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📄 backend/apps/transactions/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1871" y="5247027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📄 mobile/src/store/syncStore.ts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03244" y="5594394"/>
            <a:ext cx="5170541" cy="22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⚡ Challenge: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03244" y="5878459"/>
            <a:ext cx="5033277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Designing offline-first sync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to prevent data conflicts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03244" y="6445453"/>
            <a:ext cx="5170541" cy="22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📚 Learned: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03244" y="6729517"/>
            <a:ext cx="5033277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Django ORM signals, UUID PKs,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Redis job queues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177029" y="1784471"/>
            <a:ext cx="5627951" cy="7618333"/>
            <a:chOff x="0" y="0"/>
            <a:chExt cx="7503935" cy="101577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03922" cy="10157714"/>
            </a:xfrm>
            <a:custGeom>
              <a:avLst/>
              <a:gdLst/>
              <a:ahLst/>
              <a:cxnLst/>
              <a:rect r="r" b="b" t="t" l="l"/>
              <a:pathLst>
                <a:path h="10157714" w="7503922">
                  <a:moveTo>
                    <a:pt x="0" y="300101"/>
                  </a:moveTo>
                  <a:cubicBezTo>
                    <a:pt x="0" y="134366"/>
                    <a:pt x="134366" y="0"/>
                    <a:pt x="300101" y="0"/>
                  </a:cubicBezTo>
                  <a:lnTo>
                    <a:pt x="7203821" y="0"/>
                  </a:lnTo>
                  <a:cubicBezTo>
                    <a:pt x="7369556" y="0"/>
                    <a:pt x="7503922" y="134366"/>
                    <a:pt x="7503922" y="300101"/>
                  </a:cubicBezTo>
                  <a:lnTo>
                    <a:pt x="7503922" y="9857613"/>
                  </a:lnTo>
                  <a:cubicBezTo>
                    <a:pt x="7503922" y="10023348"/>
                    <a:pt x="7369556" y="10157714"/>
                    <a:pt x="7203821" y="10157714"/>
                  </a:cubicBezTo>
                  <a:lnTo>
                    <a:pt x="300101" y="10157714"/>
                  </a:lnTo>
                  <a:cubicBezTo>
                    <a:pt x="134366" y="10157714"/>
                    <a:pt x="0" y="10023348"/>
                    <a:pt x="0" y="9857613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177029" y="1784471"/>
            <a:ext cx="5627951" cy="95326"/>
            <a:chOff x="0" y="0"/>
            <a:chExt cx="7503935" cy="12710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503922" cy="127127"/>
            </a:xfrm>
            <a:custGeom>
              <a:avLst/>
              <a:gdLst/>
              <a:ahLst/>
              <a:cxnLst/>
              <a:rect r="r" b="b" t="t" l="l"/>
              <a:pathLst>
                <a:path h="127127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6405734" y="1997993"/>
            <a:ext cx="5170541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🌐  Shah Shazid Askary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748901" y="2419321"/>
            <a:ext cx="4758738" cy="23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i18n &amp; Contacts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405734" y="2821600"/>
            <a:ext cx="5170541" cy="22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Modules: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474371" y="3105655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Navigation &amp; Theme Setup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474371" y="3366468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Contact Management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474371" y="3627272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Payments UI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474371" y="3888076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Localization (i18n)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474371" y="4148890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Auth Screens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405734" y="4468806"/>
            <a:ext cx="5170541" cy="22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Files: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474371" y="4752861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📄 ContactsScreen.tsx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474371" y="4999949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📄 ContactDetailScreen.tsx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474371" y="5247027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📄 en.json / bn.json translations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405734" y="5594394"/>
            <a:ext cx="5170541" cy="22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⚡ Challenge: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405734" y="5878459"/>
            <a:ext cx="5033277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Contact balances accurate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across all transaction types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405734" y="6445453"/>
            <a:ext cx="5170541" cy="22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📚 Learned: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405734" y="6729517"/>
            <a:ext cx="5033277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i18next dynamic language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swapping in React Native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079519" y="1784471"/>
            <a:ext cx="5627951" cy="7618333"/>
            <a:chOff x="0" y="0"/>
            <a:chExt cx="7503935" cy="1015777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503922" cy="10157714"/>
            </a:xfrm>
            <a:custGeom>
              <a:avLst/>
              <a:gdLst/>
              <a:ahLst/>
              <a:cxnLst/>
              <a:rect r="r" b="b" t="t" l="l"/>
              <a:pathLst>
                <a:path h="10157714" w="7503922">
                  <a:moveTo>
                    <a:pt x="0" y="300101"/>
                  </a:moveTo>
                  <a:cubicBezTo>
                    <a:pt x="0" y="134366"/>
                    <a:pt x="134366" y="0"/>
                    <a:pt x="300101" y="0"/>
                  </a:cubicBezTo>
                  <a:lnTo>
                    <a:pt x="7203821" y="0"/>
                  </a:lnTo>
                  <a:cubicBezTo>
                    <a:pt x="7369556" y="0"/>
                    <a:pt x="7503922" y="134366"/>
                    <a:pt x="7503922" y="300101"/>
                  </a:cubicBezTo>
                  <a:lnTo>
                    <a:pt x="7503922" y="9857613"/>
                  </a:lnTo>
                  <a:cubicBezTo>
                    <a:pt x="7503922" y="10023348"/>
                    <a:pt x="7369556" y="10157714"/>
                    <a:pt x="7203821" y="10157714"/>
                  </a:cubicBezTo>
                  <a:lnTo>
                    <a:pt x="300101" y="10157714"/>
                  </a:lnTo>
                  <a:cubicBezTo>
                    <a:pt x="134366" y="10157714"/>
                    <a:pt x="0" y="10023348"/>
                    <a:pt x="0" y="9857613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079519" y="1784471"/>
            <a:ext cx="5627951" cy="95326"/>
            <a:chOff x="0" y="0"/>
            <a:chExt cx="7503935" cy="12710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503922" cy="127127"/>
            </a:xfrm>
            <a:custGeom>
              <a:avLst/>
              <a:gdLst/>
              <a:ahLst/>
              <a:cxnLst/>
              <a:rect r="r" b="b" t="t" l="l"/>
              <a:pathLst>
                <a:path h="127127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127127"/>
                  </a:lnTo>
                  <a:lnTo>
                    <a:pt x="0" y="127127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2308224" y="1997993"/>
            <a:ext cx="5170541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🎨  Masud Hassan Sakib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651391" y="2419321"/>
            <a:ext cx="4758738" cy="23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 Dev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308224" y="2821600"/>
            <a:ext cx="5170541" cy="22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Modules: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376861" y="3105655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Mobile UI/UX Design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376861" y="3366468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Dashboard Screen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376861" y="3627272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Transaction Screens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376861" y="3888076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Inventory Management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376861" y="4148890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• Sync &amp; Offline Engine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308224" y="4468806"/>
            <a:ext cx="5170541" cy="22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Files: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376861" y="4752861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📄 DashboardScreen.tsx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376861" y="4999949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📄 AddTransactionScreen.tsx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376861" y="5247027"/>
            <a:ext cx="5033277" cy="18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📄 InventoryScreen.tsx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308224" y="5594394"/>
            <a:ext cx="5170541" cy="22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⚡ Challenge: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308224" y="5878459"/>
            <a:ext cx="5033277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Complex form state in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AddTransactionScreen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308224" y="6445453"/>
            <a:ext cx="5170541" cy="22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📚 Learned: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308224" y="6729517"/>
            <a:ext cx="5033277" cy="4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Zustand state management,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FlatList optimizations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503244" y="9684963"/>
            <a:ext cx="3935139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by: Masud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343167"/>
            <a:ext cx="823608" cy="823608"/>
            <a:chOff x="0" y="0"/>
            <a:chExt cx="1098144" cy="1098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33450" y="0"/>
                  </a:lnTo>
                  <a:cubicBezTo>
                    <a:pt x="1024382" y="0"/>
                    <a:pt x="1098169" y="73787"/>
                    <a:pt x="1098169" y="164719"/>
                  </a:cubicBezTo>
                  <a:lnTo>
                    <a:pt x="1098169" y="933450"/>
                  </a:lnTo>
                  <a:cubicBezTo>
                    <a:pt x="1098169" y="1024382"/>
                    <a:pt x="1024382" y="1098169"/>
                    <a:pt x="933450" y="1098169"/>
                  </a:cubicBezTo>
                  <a:lnTo>
                    <a:pt x="164719" y="1098169"/>
                  </a:lnTo>
                  <a:cubicBezTo>
                    <a:pt x="73787" y="1098169"/>
                    <a:pt x="0" y="1024382"/>
                    <a:pt x="0" y="93345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40509" y="363398"/>
            <a:ext cx="6407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646" y="293637"/>
            <a:ext cx="13543845" cy="75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Enhancements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47206" y="1194225"/>
            <a:ext cx="3431677" cy="57198"/>
            <a:chOff x="0" y="0"/>
            <a:chExt cx="457556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5556" cy="76200"/>
            </a:xfrm>
            <a:custGeom>
              <a:avLst/>
              <a:gdLst/>
              <a:ahLst/>
              <a:cxnLst/>
              <a:rect r="r" b="b" t="t" l="l"/>
              <a:pathLst>
                <a:path h="76200" w="4575556">
                  <a:moveTo>
                    <a:pt x="0" y="0"/>
                  </a:moveTo>
                  <a:lnTo>
                    <a:pt x="4575556" y="0"/>
                  </a:lnTo>
                  <a:lnTo>
                    <a:pt x="457555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38646" y="1302134"/>
            <a:ext cx="13543845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What's next for TakaTracker v2.0+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9069" y="1784471"/>
            <a:ext cx="5422059" cy="3500314"/>
            <a:chOff x="0" y="0"/>
            <a:chExt cx="7229412" cy="46670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29348" cy="4666996"/>
            </a:xfrm>
            <a:custGeom>
              <a:avLst/>
              <a:gdLst/>
              <a:ahLst/>
              <a:cxnLst/>
              <a:rect r="r" b="b" t="t" l="l"/>
              <a:pathLst>
                <a:path h="4666996" w="7229348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6996049" y="0"/>
                  </a:lnTo>
                  <a:cubicBezTo>
                    <a:pt x="7124954" y="0"/>
                    <a:pt x="7229348" y="104521"/>
                    <a:pt x="7229348" y="233299"/>
                  </a:cubicBezTo>
                  <a:lnTo>
                    <a:pt x="7229348" y="4433697"/>
                  </a:lnTo>
                  <a:cubicBezTo>
                    <a:pt x="7229348" y="4562602"/>
                    <a:pt x="7124827" y="4666996"/>
                    <a:pt x="6996049" y="4666996"/>
                  </a:cubicBezTo>
                  <a:lnTo>
                    <a:pt x="233299" y="4666996"/>
                  </a:lnTo>
                  <a:cubicBezTo>
                    <a:pt x="104521" y="4667123"/>
                    <a:pt x="0" y="4562602"/>
                    <a:pt x="0" y="4433697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608078" y="2059010"/>
            <a:ext cx="1098137" cy="1098137"/>
            <a:chOff x="0" y="0"/>
            <a:chExt cx="1464183" cy="14641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699518" y="2147868"/>
            <a:ext cx="915257" cy="73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🤖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9146" y="3351619"/>
            <a:ext cx="5101904" cy="37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AI-Powered Insights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9146" y="3851100"/>
            <a:ext cx="5101904" cy="90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Sales predictions, trend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analysis, smart categories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314294" y="1784471"/>
            <a:ext cx="5422059" cy="3500314"/>
            <a:chOff x="0" y="0"/>
            <a:chExt cx="7229412" cy="46670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29348" cy="4666996"/>
            </a:xfrm>
            <a:custGeom>
              <a:avLst/>
              <a:gdLst/>
              <a:ahLst/>
              <a:cxnLst/>
              <a:rect r="r" b="b" t="t" l="l"/>
              <a:pathLst>
                <a:path h="4666996" w="7229348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6996049" y="0"/>
                  </a:lnTo>
                  <a:cubicBezTo>
                    <a:pt x="7124954" y="0"/>
                    <a:pt x="7229348" y="104521"/>
                    <a:pt x="7229348" y="233299"/>
                  </a:cubicBezTo>
                  <a:lnTo>
                    <a:pt x="7229348" y="4433697"/>
                  </a:lnTo>
                  <a:cubicBezTo>
                    <a:pt x="7229348" y="4562602"/>
                    <a:pt x="7124827" y="4666996"/>
                    <a:pt x="6996049" y="4666996"/>
                  </a:cubicBezTo>
                  <a:lnTo>
                    <a:pt x="233299" y="4666996"/>
                  </a:lnTo>
                  <a:cubicBezTo>
                    <a:pt x="104521" y="4667123"/>
                    <a:pt x="0" y="4562602"/>
                    <a:pt x="0" y="4433697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373304" y="2059010"/>
            <a:ext cx="1098137" cy="1098137"/>
            <a:chOff x="0" y="0"/>
            <a:chExt cx="1464183" cy="14641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464744" y="2147868"/>
            <a:ext cx="915257" cy="73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🎤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74371" y="3351619"/>
            <a:ext cx="5101904" cy="37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Bengali Voice Input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74371" y="3851100"/>
            <a:ext cx="5101904" cy="90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Hands-free recording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using speech recognition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79519" y="1784471"/>
            <a:ext cx="5422059" cy="3500314"/>
            <a:chOff x="0" y="0"/>
            <a:chExt cx="7229412" cy="466708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29348" cy="4666996"/>
            </a:xfrm>
            <a:custGeom>
              <a:avLst/>
              <a:gdLst/>
              <a:ahLst/>
              <a:cxnLst/>
              <a:rect r="r" b="b" t="t" l="l"/>
              <a:pathLst>
                <a:path h="4666996" w="7229348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6996049" y="0"/>
                  </a:lnTo>
                  <a:cubicBezTo>
                    <a:pt x="7124954" y="0"/>
                    <a:pt x="7229348" y="104521"/>
                    <a:pt x="7229348" y="233299"/>
                  </a:cubicBezTo>
                  <a:lnTo>
                    <a:pt x="7229348" y="4433697"/>
                  </a:lnTo>
                  <a:cubicBezTo>
                    <a:pt x="7229348" y="4562602"/>
                    <a:pt x="7124827" y="4666996"/>
                    <a:pt x="6996049" y="4666996"/>
                  </a:cubicBezTo>
                  <a:lnTo>
                    <a:pt x="233299" y="4666996"/>
                  </a:lnTo>
                  <a:cubicBezTo>
                    <a:pt x="104521" y="4667123"/>
                    <a:pt x="0" y="4562602"/>
                    <a:pt x="0" y="4433697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138529" y="2059010"/>
            <a:ext cx="1098137" cy="1098137"/>
            <a:chOff x="0" y="0"/>
            <a:chExt cx="1464183" cy="14641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4229969" y="2147868"/>
            <a:ext cx="915257" cy="73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📷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39587" y="3351619"/>
            <a:ext cx="5101904" cy="37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Barcode Scanner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39587" y="3851100"/>
            <a:ext cx="5101904" cy="90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Quick product entry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via camera scanning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49069" y="5696588"/>
            <a:ext cx="5422059" cy="3500314"/>
            <a:chOff x="0" y="0"/>
            <a:chExt cx="7229412" cy="466708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229348" cy="4666996"/>
            </a:xfrm>
            <a:custGeom>
              <a:avLst/>
              <a:gdLst/>
              <a:ahLst/>
              <a:cxnLst/>
              <a:rect r="r" b="b" t="t" l="l"/>
              <a:pathLst>
                <a:path h="4666996" w="7229348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6996049" y="0"/>
                  </a:lnTo>
                  <a:cubicBezTo>
                    <a:pt x="7124954" y="0"/>
                    <a:pt x="7229348" y="104521"/>
                    <a:pt x="7229348" y="233299"/>
                  </a:cubicBezTo>
                  <a:lnTo>
                    <a:pt x="7229348" y="4433697"/>
                  </a:lnTo>
                  <a:cubicBezTo>
                    <a:pt x="7229348" y="4562602"/>
                    <a:pt x="7124827" y="4666996"/>
                    <a:pt x="6996049" y="4666996"/>
                  </a:cubicBezTo>
                  <a:lnTo>
                    <a:pt x="233299" y="4666996"/>
                  </a:lnTo>
                  <a:cubicBezTo>
                    <a:pt x="104521" y="4667123"/>
                    <a:pt x="0" y="4562602"/>
                    <a:pt x="0" y="4433697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608078" y="5971127"/>
            <a:ext cx="1098137" cy="1098137"/>
            <a:chOff x="0" y="0"/>
            <a:chExt cx="1464183" cy="146418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3498DB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2699518" y="6059986"/>
            <a:ext cx="915257" cy="73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👥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09146" y="7263736"/>
            <a:ext cx="5101904" cy="37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Multi-User Access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09146" y="7763218"/>
            <a:ext cx="5101904" cy="90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Shared access for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partners &amp; employees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314294" y="5696588"/>
            <a:ext cx="5422059" cy="3500314"/>
            <a:chOff x="0" y="0"/>
            <a:chExt cx="7229412" cy="466708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29348" cy="4666996"/>
            </a:xfrm>
            <a:custGeom>
              <a:avLst/>
              <a:gdLst/>
              <a:ahLst/>
              <a:cxnLst/>
              <a:rect r="r" b="b" t="t" l="l"/>
              <a:pathLst>
                <a:path h="4666996" w="7229348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6996049" y="0"/>
                  </a:lnTo>
                  <a:cubicBezTo>
                    <a:pt x="7124954" y="0"/>
                    <a:pt x="7229348" y="104521"/>
                    <a:pt x="7229348" y="233299"/>
                  </a:cubicBezTo>
                  <a:lnTo>
                    <a:pt x="7229348" y="4433697"/>
                  </a:lnTo>
                  <a:cubicBezTo>
                    <a:pt x="7229348" y="4562602"/>
                    <a:pt x="7124827" y="4666996"/>
                    <a:pt x="6996049" y="4666996"/>
                  </a:cubicBezTo>
                  <a:lnTo>
                    <a:pt x="233299" y="4666996"/>
                  </a:lnTo>
                  <a:cubicBezTo>
                    <a:pt x="104521" y="4667123"/>
                    <a:pt x="0" y="4562602"/>
                    <a:pt x="0" y="4433697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373304" y="5971127"/>
            <a:ext cx="1098137" cy="1098137"/>
            <a:chOff x="0" y="0"/>
            <a:chExt cx="1464183" cy="146418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8E44AD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8464744" y="6059986"/>
            <a:ext cx="915257" cy="73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📱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474371" y="7263736"/>
            <a:ext cx="5101904" cy="37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SMS Notifications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474371" y="7763218"/>
            <a:ext cx="5101904" cy="90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Due date reminders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&amp; payment alerts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079519" y="5696588"/>
            <a:ext cx="5422059" cy="3500314"/>
            <a:chOff x="0" y="0"/>
            <a:chExt cx="7229412" cy="466708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29348" cy="4666996"/>
            </a:xfrm>
            <a:custGeom>
              <a:avLst/>
              <a:gdLst/>
              <a:ahLst/>
              <a:cxnLst/>
              <a:rect r="r" b="b" t="t" l="l"/>
              <a:pathLst>
                <a:path h="4666996" w="7229348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6996049" y="0"/>
                  </a:lnTo>
                  <a:cubicBezTo>
                    <a:pt x="7124954" y="0"/>
                    <a:pt x="7229348" y="104521"/>
                    <a:pt x="7229348" y="233299"/>
                  </a:cubicBezTo>
                  <a:lnTo>
                    <a:pt x="7229348" y="4433697"/>
                  </a:lnTo>
                  <a:cubicBezTo>
                    <a:pt x="7229348" y="4562602"/>
                    <a:pt x="7124827" y="4666996"/>
                    <a:pt x="6996049" y="4666996"/>
                  </a:cubicBezTo>
                  <a:lnTo>
                    <a:pt x="233299" y="4666996"/>
                  </a:lnTo>
                  <a:cubicBezTo>
                    <a:pt x="104521" y="4667123"/>
                    <a:pt x="0" y="4562602"/>
                    <a:pt x="0" y="4433697"/>
                  </a:cubicBezTo>
                  <a:close/>
                </a:path>
              </a:pathLst>
            </a:custGeom>
            <a:solidFill>
              <a:srgbClr val="112B3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138529" y="5971127"/>
            <a:ext cx="1098137" cy="1098137"/>
            <a:chOff x="0" y="0"/>
            <a:chExt cx="1464183" cy="146418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E74C3C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4229969" y="6059986"/>
            <a:ext cx="915257" cy="73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🏦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239587" y="7263736"/>
            <a:ext cx="5101904" cy="37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Bank Integration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239587" y="7763218"/>
            <a:ext cx="5101904" cy="90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Direct reconciliation</a:t>
            </a:r>
          </a:p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&amp; auto statements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03244" y="9684963"/>
            <a:ext cx="3935139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0A4AE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by: Masud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02292" y="411804"/>
            <a:ext cx="5490686" cy="5490686"/>
            <a:chOff x="0" y="0"/>
            <a:chExt cx="7320915" cy="73209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20915" cy="7320915"/>
            </a:xfrm>
            <a:custGeom>
              <a:avLst/>
              <a:gdLst/>
              <a:ahLst/>
              <a:cxnLst/>
              <a:rect r="r" b="b" t="t" l="l"/>
              <a:pathLst>
                <a:path h="7320915" w="7320915">
                  <a:moveTo>
                    <a:pt x="0" y="3660521"/>
                  </a:moveTo>
                  <a:cubicBezTo>
                    <a:pt x="0" y="1638808"/>
                    <a:pt x="1638808" y="0"/>
                    <a:pt x="3660521" y="0"/>
                  </a:cubicBezTo>
                  <a:cubicBezTo>
                    <a:pt x="5682235" y="0"/>
                    <a:pt x="7320915" y="1638808"/>
                    <a:pt x="7320915" y="3660521"/>
                  </a:cubicBezTo>
                  <a:cubicBezTo>
                    <a:pt x="7320915" y="5682235"/>
                    <a:pt x="5682107" y="7320915"/>
                    <a:pt x="3660521" y="7320915"/>
                  </a:cubicBezTo>
                  <a:cubicBezTo>
                    <a:pt x="1638935" y="7320915"/>
                    <a:pt x="0" y="5682107"/>
                    <a:pt x="0" y="3660521"/>
                  </a:cubicBezTo>
                  <a:close/>
                </a:path>
              </a:pathLst>
            </a:custGeom>
            <a:solidFill>
              <a:srgbClr val="004D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72676" y="6177029"/>
            <a:ext cx="4118019" cy="4118019"/>
            <a:chOff x="0" y="0"/>
            <a:chExt cx="5490693" cy="54906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90718" cy="5490718"/>
            </a:xfrm>
            <a:custGeom>
              <a:avLst/>
              <a:gdLst/>
              <a:ahLst/>
              <a:cxnLst/>
              <a:rect r="r" b="b" t="t" l="l"/>
              <a:pathLst>
                <a:path h="5490718" w="5490718">
                  <a:moveTo>
                    <a:pt x="0" y="2745359"/>
                  </a:moveTo>
                  <a:cubicBezTo>
                    <a:pt x="0" y="1229106"/>
                    <a:pt x="1229106" y="0"/>
                    <a:pt x="2745359" y="0"/>
                  </a:cubicBezTo>
                  <a:cubicBezTo>
                    <a:pt x="4261612" y="0"/>
                    <a:pt x="5490718" y="1229106"/>
                    <a:pt x="5490718" y="2745359"/>
                  </a:cubicBezTo>
                  <a:cubicBezTo>
                    <a:pt x="5490718" y="4261612"/>
                    <a:pt x="4261612" y="5490718"/>
                    <a:pt x="2745359" y="5490718"/>
                  </a:cubicBezTo>
                  <a:cubicBezTo>
                    <a:pt x="1229106" y="5490718"/>
                    <a:pt x="0" y="4261612"/>
                    <a:pt x="0" y="2745359"/>
                  </a:cubicBezTo>
                  <a:close/>
                </a:path>
              </a:pathLst>
            </a:custGeom>
            <a:solidFill>
              <a:srgbClr val="003D5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13059" y="6863363"/>
            <a:ext cx="3431677" cy="3431677"/>
            <a:chOff x="0" y="0"/>
            <a:chExt cx="4575569" cy="45755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5556" cy="4575556"/>
            </a:xfrm>
            <a:custGeom>
              <a:avLst/>
              <a:gdLst/>
              <a:ahLst/>
              <a:cxnLst/>
              <a:rect r="r" b="b" t="t" l="l"/>
              <a:pathLst>
                <a:path h="4575556" w="4575556">
                  <a:moveTo>
                    <a:pt x="0" y="2287778"/>
                  </a:moveTo>
                  <a:cubicBezTo>
                    <a:pt x="0" y="1024255"/>
                    <a:pt x="1024255" y="0"/>
                    <a:pt x="2287778" y="0"/>
                  </a:cubicBezTo>
                  <a:cubicBezTo>
                    <a:pt x="3551301" y="0"/>
                    <a:pt x="4575556" y="1024255"/>
                    <a:pt x="4575556" y="2287778"/>
                  </a:cubicBezTo>
                  <a:cubicBezTo>
                    <a:pt x="4575556" y="3551301"/>
                    <a:pt x="3551301" y="4575556"/>
                    <a:pt x="2287778" y="4575556"/>
                  </a:cubicBezTo>
                  <a:cubicBezTo>
                    <a:pt x="1024255" y="4575556"/>
                    <a:pt x="0" y="3551301"/>
                    <a:pt x="0" y="2287778"/>
                  </a:cubicBezTo>
                  <a:close/>
                </a:path>
              </a:pathLst>
            </a:custGeom>
            <a:solidFill>
              <a:srgbClr val="003D51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836783" y="4501296"/>
            <a:ext cx="12582973" cy="1012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6"/>
              </a:lnSpc>
            </a:pPr>
            <a:r>
              <a:rPr lang="en-US" sz="720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You!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549696" y="6245657"/>
            <a:ext cx="3157147" cy="57198"/>
            <a:chOff x="0" y="0"/>
            <a:chExt cx="4209529" cy="762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09542" cy="76200"/>
            </a:xfrm>
            <a:custGeom>
              <a:avLst/>
              <a:gdLst/>
              <a:ahLst/>
              <a:cxnLst/>
              <a:rect r="r" b="b" t="t" l="l"/>
              <a:pathLst>
                <a:path h="76200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836783" y="6430604"/>
            <a:ext cx="12582973" cy="52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>
                <a:solidFill>
                  <a:srgbClr val="BDBDBD"/>
                </a:solidFill>
                <a:latin typeface="Calibri (MS)"/>
                <a:ea typeface="Calibri (MS)"/>
                <a:cs typeface="Calibri (MS)"/>
                <a:sym typeface="Calibri (MS)"/>
              </a:rP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DAHGj7pNw3M</dc:identifier>
  <dcterms:modified xsi:type="dcterms:W3CDTF">2011-08-01T06:04:30Z</dcterms:modified>
  <cp:revision>1</cp:revision>
  <dc:title>TakaTracker_PPTX</dc:title>
</cp:coreProperties>
</file>